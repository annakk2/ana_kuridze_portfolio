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Canva Sans Bold" charset="1" panose="020B0803030501040103"/>
      <p:regular r:id="rId37"/>
    </p:embeddedFont>
    <p:embeddedFont>
      <p:font typeface="Inter Bold" charset="1" panose="020B0802030000000004"/>
      <p:regular r:id="rId38"/>
    </p:embeddedFont>
    <p:embeddedFont>
      <p:font typeface="Montserrat Semi-Bold" charset="1" panose="00000700000000000000"/>
      <p:regular r:id="rId39"/>
    </p:embeddedFont>
    <p:embeddedFont>
      <p:font typeface="Montserrat Bold" charset="1" panose="00000800000000000000"/>
      <p:regular r:id="rId43"/>
    </p:embeddedFont>
    <p:embeddedFont>
      <p:font typeface="Canva Sans" charset="1" panose="020B0503030501040103"/>
      <p:regular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notesMasters/notesMaster1.xml" Type="http://schemas.openxmlformats.org/officeDocument/2006/relationships/notesMaster"/><Relationship Id="rId41" Target="theme/theme2.xml" Type="http://schemas.openxmlformats.org/officeDocument/2006/relationships/theme"/><Relationship Id="rId42" Target="notesSlides/notesSlide1.xml" Type="http://schemas.openxmlformats.org/officeDocument/2006/relationships/notesSlide"/><Relationship Id="rId43" Target="fonts/font43.fntdata" Type="http://schemas.openxmlformats.org/officeDocument/2006/relationships/font"/><Relationship Id="rId44" Target="notesSlides/notesSlide2.xml" Type="http://schemas.openxmlformats.org/officeDocument/2006/relationships/notesSlide"/><Relationship Id="rId45" Target="notesSlides/notesSlide3.xml" Type="http://schemas.openxmlformats.org/officeDocument/2006/relationships/notesSlide"/><Relationship Id="rId46" Target="notesSlides/notesSlide4.xml" Type="http://schemas.openxmlformats.org/officeDocument/2006/relationships/notesSlide"/><Relationship Id="rId47" Target="notesSlides/notesSlide5.xml" Type="http://schemas.openxmlformats.org/officeDocument/2006/relationships/notesSlide"/><Relationship Id="rId48" Target="notesSlides/notesSlide6.xml" Type="http://schemas.openxmlformats.org/officeDocument/2006/relationships/notesSlide"/><Relationship Id="rId49" Target="notesSlides/notesSlide7.xml" Type="http://schemas.openxmlformats.org/officeDocument/2006/relationships/notesSlide"/><Relationship Id="rId5" Target="tableStyles.xml" Type="http://schemas.openxmlformats.org/officeDocument/2006/relationships/tableStyles"/><Relationship Id="rId50" Target="notesSlides/notesSlide8.xml" Type="http://schemas.openxmlformats.org/officeDocument/2006/relationships/notesSlide"/><Relationship Id="rId51" Target="notesSlides/notesSlide9.xml" Type="http://schemas.openxmlformats.org/officeDocument/2006/relationships/notesSlide"/><Relationship Id="rId52" Target="notesSlides/notesSlide10.xml" Type="http://schemas.openxmlformats.org/officeDocument/2006/relationships/notesSlide"/><Relationship Id="rId53" Target="notesSlides/notesSlide11.xml" Type="http://schemas.openxmlformats.org/officeDocument/2006/relationships/notesSlide"/><Relationship Id="rId54" Target="notesSlides/notesSlide12.xml" Type="http://schemas.openxmlformats.org/officeDocument/2006/relationships/notesSlide"/><Relationship Id="rId55" Target="notesSlides/notesSlide13.xml" Type="http://schemas.openxmlformats.org/officeDocument/2006/relationships/notesSlide"/><Relationship Id="rId56" Target="notesSlides/notesSlide14.xml" Type="http://schemas.openxmlformats.org/officeDocument/2006/relationships/notesSlide"/><Relationship Id="rId57" Target="notesSlides/notesSlide15.xml" Type="http://schemas.openxmlformats.org/officeDocument/2006/relationships/notesSlide"/><Relationship Id="rId58" Target="notesSlides/notesSlide16.xml" Type="http://schemas.openxmlformats.org/officeDocument/2006/relationships/notesSlide"/><Relationship Id="rId59" Target="notesSlides/notesSlide17.xml" Type="http://schemas.openxmlformats.org/officeDocument/2006/relationships/notesSlide"/><Relationship Id="rId6" Target="slides/slide1.xml" Type="http://schemas.openxmlformats.org/officeDocument/2006/relationships/slide"/><Relationship Id="rId60" Target="notesSlides/notesSlide18.xml" Type="http://schemas.openxmlformats.org/officeDocument/2006/relationships/notesSlide"/><Relationship Id="rId61" Target="notesSlides/notesSlide19.xml" Type="http://schemas.openxmlformats.org/officeDocument/2006/relationships/notesSlide"/><Relationship Id="rId62" Target="notesSlides/notesSlide20.xml" Type="http://schemas.openxmlformats.org/officeDocument/2006/relationships/notesSlide"/><Relationship Id="rId63" Target="notesSlides/notesSlide21.xml" Type="http://schemas.openxmlformats.org/officeDocument/2006/relationships/notesSlide"/><Relationship Id="rId64" Target="fonts/font64.fntdata" Type="http://schemas.openxmlformats.org/officeDocument/2006/relationships/font"/><Relationship Id="rId65" Target="notesSlides/notesSlide22.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the "laws" of the Nintendo shop that govern how our tables connect. They ensure data stays accurate and prevents errors like duplicate orders.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start our database journey, we moved into First Normal Form. Think of this as cleaning up a messy spreadsheet. We made sure every single piece of data, like a game's price or a customer's email, has its own dedicated cell. No more lists of items stuffed into one box. We also assigned unique IDs for every product, so the system never confuses a 'Switch OLED' with a 'Switch Lite'.</a:t>
            </a:r>
          </a:p>
          <a:p>
            <a:r>
              <a:rPr lang="en-US"/>
              <a:t/>
            </a:r>
          </a:p>
          <a:p>
            <a:r>
              <a:rPr lang="en-US"/>
              <a:t/>
            </a:r>
          </a:p>
          <a:p>
            <a:r>
              <a:rPr lang="en-US"/>
              <a:t>The Goal: Getting the data "organized and atomic."</a:t>
            </a:r>
          </a:p>
          <a:p>
            <a:r>
              <a:rPr lang="en-US"/>
              <a:t>Eliminated Repeating Groups: Instead of having one "Order" row with a list of five games, every item gets its own space.</a:t>
            </a:r>
          </a:p>
          <a:p>
            <a:r>
              <a:rPr lang="en-US"/>
              <a:t/>
            </a:r>
          </a:p>
          <a:p>
            <a:r>
              <a:rPr lang="en-US"/>
              <a:t>Data Atomicity: Every cell contains exactly one piece of information (e.g., one Product Name, one Price).</a:t>
            </a:r>
          </a:p>
          <a:p>
            <a:r>
              <a:rPr lang="en-US"/>
              <a:t/>
            </a:r>
          </a:p>
          <a:p>
            <a:r>
              <a:rPr lang="en-US"/>
              <a:t>Primary Key Identified: Established PRD_ID and CST_ID to ensure every row is unique and searchable.</a:t>
            </a:r>
          </a:p>
          <a:p>
            <a:r>
              <a:rPr lang="en-US"/>
              <a:t/>
            </a:r>
          </a:p>
          <a:p>
            <a:r>
              <a:rPr lang="en-US"/>
              <a:t>Example: If a customer buys a Nintendo Switch and Mario Kart, 1NF ensures these are treated as distinct data points, not lumped into a single "Purchased Items" text box.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Second Normal Form, we started grouping related data together. Before this, we were repeating the same product info every time a sale happened. Now, we have a 'Master List' for Products and a 'Master List' for Customers. If Nintendo changes the price of a console, we only have to update it in one place,the Product table,instead of hunting through thousands of individual orders. It’s all about efficiency and reducing double-work.</a:t>
            </a:r>
          </a:p>
          <a:p>
            <a:r>
              <a:rPr lang="en-US"/>
              <a:t/>
            </a:r>
          </a:p>
          <a:p>
            <a:r>
              <a:rPr lang="en-US"/>
              <a:t/>
            </a:r>
          </a:p>
          <a:p>
            <a:r>
              <a:rPr lang="en-US"/>
              <a:t>Example: A Nintendo Switch’s price ($299) belongs in the Product table. We shouldn't store that price in the Order table every single time someone buys it; we just link to the Product ID.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Finally, we reached Third Normal Form, which is the gold standard for database design. Here, we removed what we call 'middleman' relationships. For example, a customer's city is actually tied to their Zip Code, not their personal ID. By moving shipping and retail details into their own specific tables, we ensure that the database is perfectly streamlined. Every attribute now depends on 'the key, the whole key, and nothing but the key.</a:t>
            </a:r>
          </a:p>
          <a:p>
            <a:r>
              <a:rPr lang="en-US"/>
              <a:t/>
            </a:r>
          </a:p>
          <a:p>
            <a:r>
              <a:rPr lang="en-US"/>
              <a:t/>
            </a:r>
          </a:p>
          <a:p>
            <a:r>
              <a:rPr lang="en-US"/>
              <a:t>Addressing the Zip Code Issue: In the 2NF model, 'City' was tied to the Customer. But 'City' actually depends on 'Zip Code.' We moved this to a Shipping table to keep the Customer table clean.</a:t>
            </a:r>
          </a:p>
          <a:p>
            <a:r>
              <a:rPr lang="en-US"/>
              <a:t/>
            </a:r>
          </a:p>
          <a:p>
            <a:r>
              <a:rPr lang="en-US"/>
              <a:t>Example: A retail store's "Opening Hours" depends on the Retailer ID, not the Product ID. We separated these so the database stays fast and logical.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finalizing our 3NF design, the next step was moving from theory to reality using SQL. On this slide, you can see how we translated our entities into actual physical tables.</a:t>
            </a:r>
          </a:p>
          <a:p>
            <a:r>
              <a:rPr lang="en-US"/>
              <a:t/>
            </a:r>
          </a:p>
          <a:p>
            <a:r>
              <a:rPr lang="en-US"/>
              <a:t>For example, we used the CREATE TABLE command to define our 'Customer' table, We didn't just name the columns; we assigned specific data types. and also we inserted data as you see.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Other tables we also have created are following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my first query, I focused on our retail partners. This code pulls a list of all our hardware, specifically the Nintendo Switch systems, and matches them with external retailers. It tells us which stores have the items in stock and what they are charging. This is how Nintendo ensures that our products are available to customers at the correct price across all different stores.</a:t>
            </a:r>
          </a:p>
          <a:p>
            <a:r>
              <a:rPr lang="en-US"/>
              <a:t/>
            </a:r>
          </a:p>
          <a:p>
            <a:r>
              <a:rPr lang="en-US"/>
              <a:t>What it does: This query looks at all "Hardware" (like the Nintendo Switch console) and compares Nintendo’s official products with external Retailers to see their stock status and pricing.</a:t>
            </a:r>
          </a:p>
          <a:p>
            <a:r>
              <a:rPr lang="en-US"/>
              <a:t/>
            </a:r>
          </a:p>
          <a:p>
            <a:r>
              <a:rPr lang="en-US"/>
              <a:t>Simple Logic: It joins the PRODUCT and RETAILER tables to make sure our partners are selling our consoles at the right price.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Other tables we also have created are following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My second query is all about our 'VIP' customers. I wrote this code to find users who buy our high-end products, like consoles and limited-edition bundles priced over $100. It calculates the total amount each person has spent. This data is incredibly valuable because it helps the business identify our most loyal fans so we can offer them special rewards or early access to new releases.</a:t>
            </a:r>
          </a:p>
          <a:p>
            <a:r>
              <a:rPr lang="en-US"/>
              <a:t/>
            </a:r>
          </a:p>
          <a:p>
            <a:r>
              <a:rPr lang="en-US"/>
              <a:t>What it does: This query finds customers who have spent money on "expensive" items (anything over $100). It calculates their full name, how many orders they’ve placed, and exactly how much they’ve spent.</a:t>
            </a:r>
          </a:p>
          <a:p>
            <a:r>
              <a:rPr lang="en-US"/>
              <a:t/>
            </a:r>
          </a:p>
          <a:p>
            <a:r>
              <a:rPr lang="en-US"/>
              <a:t>Simple Logic: It connects CUSTOMER, ORDERS, and PRODUCTS to find our most loyal, high-spending users.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Other tables we also have created are following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Other tables we also have created are following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Other tables we also have created are following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Other tables we also have created are following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Other tables we also have created are following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8.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9.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3.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5.png" Type="http://schemas.openxmlformats.org/officeDocument/2006/relationships/image"/><Relationship Id="rId6"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5.png" Type="http://schemas.openxmlformats.org/officeDocument/2006/relationships/image"/><Relationship Id="rId6"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5.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0486"/>
            <a:ext cx="18344626" cy="10318852"/>
          </a:xfrm>
          <a:custGeom>
            <a:avLst/>
            <a:gdLst/>
            <a:ahLst/>
            <a:cxnLst/>
            <a:rect r="r" b="b" t="t" l="l"/>
            <a:pathLst>
              <a:path h="10318852" w="18344626">
                <a:moveTo>
                  <a:pt x="0" y="0"/>
                </a:moveTo>
                <a:lnTo>
                  <a:pt x="18344626" y="0"/>
                </a:lnTo>
                <a:lnTo>
                  <a:pt x="18344626" y="10318852"/>
                </a:lnTo>
                <a:lnTo>
                  <a:pt x="0" y="10318852"/>
                </a:lnTo>
                <a:lnTo>
                  <a:pt x="0" y="0"/>
                </a:lnTo>
                <a:close/>
              </a:path>
            </a:pathLst>
          </a:custGeom>
          <a:blipFill>
            <a:blip r:embed="rId2"/>
            <a:stretch>
              <a:fillRect l="0" t="0" r="0" b="-18666"/>
            </a:stretch>
          </a:blipFill>
        </p:spPr>
      </p:sp>
      <p:grpSp>
        <p:nvGrpSpPr>
          <p:cNvPr name="Group 3" id="3"/>
          <p:cNvGrpSpPr/>
          <p:nvPr/>
        </p:nvGrpSpPr>
        <p:grpSpPr>
          <a:xfrm rot="0">
            <a:off x="9525" y="50486"/>
            <a:ext cx="18344626" cy="10318852"/>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283E51">
                    <a:alpha val="0"/>
                  </a:srgbClr>
                </a:gs>
                <a:gs pos="33333">
                  <a:srgbClr val="283E51">
                    <a:alpha val="44545"/>
                  </a:srgbClr>
                </a:gs>
                <a:gs pos="66667">
                  <a:srgbClr val="283E51">
                    <a:alpha val="59000"/>
                  </a:srgbClr>
                </a:gs>
                <a:gs pos="100000">
                  <a:srgbClr val="122737">
                    <a:alpha val="59000"/>
                  </a:srgbClr>
                </a:gs>
              </a:gsLst>
              <a:lin ang="0"/>
            </a:gradFill>
          </p:spPr>
        </p:sp>
        <p:sp>
          <p:nvSpPr>
            <p:cNvPr name="TextBox 5" id="5"/>
            <p:cNvSpPr txBox="true"/>
            <p:nvPr/>
          </p:nvSpPr>
          <p:spPr>
            <a:xfrm>
              <a:off x="0" y="-38100"/>
              <a:ext cx="4816593" cy="2747433"/>
            </a:xfrm>
            <a:prstGeom prst="rect">
              <a:avLst/>
            </a:prstGeom>
          </p:spPr>
          <p:txBody>
            <a:bodyPr anchor="ctr" rtlCol="false" tIns="50957" lIns="50957" bIns="50957" rIns="50957"/>
            <a:lstStyle/>
            <a:p>
              <a:pPr algn="ctr">
                <a:lnSpc>
                  <a:spcPts val="2633"/>
                </a:lnSpc>
              </a:pPr>
            </a:p>
          </p:txBody>
        </p:sp>
      </p:grpSp>
      <p:sp>
        <p:nvSpPr>
          <p:cNvPr name="TextBox 6" id="6"/>
          <p:cNvSpPr txBox="true"/>
          <p:nvPr/>
        </p:nvSpPr>
        <p:spPr>
          <a:xfrm rot="0">
            <a:off x="2768733" y="8694052"/>
            <a:ext cx="10967038" cy="1311973"/>
          </a:xfrm>
          <a:prstGeom prst="rect">
            <a:avLst/>
          </a:prstGeom>
        </p:spPr>
        <p:txBody>
          <a:bodyPr anchor="t" rtlCol="false" tIns="0" lIns="0" bIns="0" rIns="0">
            <a:spAutoFit/>
          </a:bodyPr>
          <a:lstStyle/>
          <a:p>
            <a:pPr algn="ctr">
              <a:lnSpc>
                <a:spcPts val="3510"/>
              </a:lnSpc>
            </a:pPr>
            <a:r>
              <a:rPr lang="en-US" sz="2507" b="true">
                <a:solidFill>
                  <a:srgbClr val="FFFFFF"/>
                </a:solidFill>
                <a:latin typeface="Canva Sans Bold"/>
                <a:ea typeface="Canva Sans Bold"/>
                <a:cs typeface="Canva Sans Bold"/>
                <a:sym typeface="Canva Sans Bold"/>
              </a:rPr>
              <a:t>Ana Kuridze, Euklid Pllumbaj,</a:t>
            </a:r>
            <a:r>
              <a:rPr lang="en-US" sz="2507" b="true">
                <a:solidFill>
                  <a:srgbClr val="FFFFFF"/>
                </a:solidFill>
                <a:latin typeface="Canva Sans Bold"/>
                <a:ea typeface="Canva Sans Bold"/>
                <a:cs typeface="Canva Sans Bold"/>
                <a:sym typeface="Canva Sans Bold"/>
              </a:rPr>
              <a:t> </a:t>
            </a:r>
          </a:p>
          <a:p>
            <a:pPr algn="ctr">
              <a:lnSpc>
                <a:spcPts val="3510"/>
              </a:lnSpc>
            </a:pPr>
            <a:r>
              <a:rPr lang="en-US" sz="2507" b="true">
                <a:solidFill>
                  <a:srgbClr val="FFFFFF"/>
                </a:solidFill>
                <a:latin typeface="Canva Sans Bold"/>
                <a:ea typeface="Canva Sans Bold"/>
                <a:cs typeface="Canva Sans Bold"/>
                <a:sym typeface="Canva Sans Bold"/>
              </a:rPr>
              <a:t>Hannah-Tavier Chevannes, Jovy Theodore, Jhadaine Shepherd</a:t>
            </a:r>
          </a:p>
          <a:p>
            <a:pPr algn="ctr">
              <a:lnSpc>
                <a:spcPts val="3510"/>
              </a:lnSpc>
            </a:pPr>
          </a:p>
        </p:txBody>
      </p:sp>
      <p:grpSp>
        <p:nvGrpSpPr>
          <p:cNvPr name="Group 7" id="7"/>
          <p:cNvGrpSpPr/>
          <p:nvPr/>
        </p:nvGrpSpPr>
        <p:grpSpPr>
          <a:xfrm rot="0">
            <a:off x="3554776" y="4102253"/>
            <a:ext cx="4332335" cy="433233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90E24">
                    <a:alpha val="100000"/>
                  </a:srgbClr>
                </a:gs>
                <a:gs pos="50000">
                  <a:srgbClr val="F35E61">
                    <a:alpha val="100000"/>
                  </a:srgbClr>
                </a:gs>
                <a:gs pos="100000">
                  <a:srgbClr val="FFE385">
                    <a:alpha val="100000"/>
                  </a:srgbClr>
                </a:gs>
              </a:gsLst>
              <a:lin ang="16200000"/>
            </a:gradFill>
          </p:spPr>
        </p:sp>
        <p:sp>
          <p:nvSpPr>
            <p:cNvPr name="TextBox 9" id="9"/>
            <p:cNvSpPr txBox="true"/>
            <p:nvPr/>
          </p:nvSpPr>
          <p:spPr>
            <a:xfrm>
              <a:off x="76200" y="38100"/>
              <a:ext cx="660400" cy="698500"/>
            </a:xfrm>
            <a:prstGeom prst="rect">
              <a:avLst/>
            </a:prstGeom>
          </p:spPr>
          <p:txBody>
            <a:bodyPr anchor="ctr" rtlCol="false" tIns="50957" lIns="50957" bIns="50957" rIns="50957"/>
            <a:lstStyle/>
            <a:p>
              <a:pPr algn="ctr">
                <a:lnSpc>
                  <a:spcPts val="2633"/>
                </a:lnSpc>
                <a:spcBef>
                  <a:spcPct val="0"/>
                </a:spcBef>
              </a:pPr>
            </a:p>
          </p:txBody>
        </p:sp>
      </p:grpSp>
      <p:grpSp>
        <p:nvGrpSpPr>
          <p:cNvPr name="Group 10" id="10"/>
          <p:cNvGrpSpPr/>
          <p:nvPr/>
        </p:nvGrpSpPr>
        <p:grpSpPr>
          <a:xfrm rot="0">
            <a:off x="563659" y="819181"/>
            <a:ext cx="5982234" cy="598223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15000">
                  <a:srgbClr val="8114B0">
                    <a:alpha val="100000"/>
                  </a:srgbClr>
                </a:gs>
                <a:gs pos="50000">
                  <a:srgbClr val="FF4291">
                    <a:alpha val="100000"/>
                  </a:srgbClr>
                </a:gs>
                <a:gs pos="85000">
                  <a:srgbClr val="F7FF3C">
                    <a:alpha val="100000"/>
                  </a:srgbClr>
                </a:gs>
              </a:gsLst>
              <a:lin ang="18900000"/>
            </a:gradFill>
          </p:spPr>
        </p:sp>
        <p:sp>
          <p:nvSpPr>
            <p:cNvPr name="TextBox 12" id="12"/>
            <p:cNvSpPr txBox="true"/>
            <p:nvPr/>
          </p:nvSpPr>
          <p:spPr>
            <a:xfrm>
              <a:off x="76200" y="38100"/>
              <a:ext cx="660400" cy="698500"/>
            </a:xfrm>
            <a:prstGeom prst="rect">
              <a:avLst/>
            </a:prstGeom>
          </p:spPr>
          <p:txBody>
            <a:bodyPr anchor="ctr" rtlCol="false" tIns="50957" lIns="50957" bIns="50957" rIns="50957"/>
            <a:lstStyle/>
            <a:p>
              <a:pPr algn="ctr">
                <a:lnSpc>
                  <a:spcPts val="2633"/>
                </a:lnSpc>
                <a:spcBef>
                  <a:spcPct val="0"/>
                </a:spcBef>
              </a:pPr>
            </a:p>
          </p:txBody>
        </p:sp>
      </p:grpSp>
      <p:sp>
        <p:nvSpPr>
          <p:cNvPr name="TextBox 13" id="13"/>
          <p:cNvSpPr txBox="true"/>
          <p:nvPr/>
        </p:nvSpPr>
        <p:spPr>
          <a:xfrm rot="0">
            <a:off x="1721384" y="2280966"/>
            <a:ext cx="13638946" cy="2313710"/>
          </a:xfrm>
          <a:prstGeom prst="rect">
            <a:avLst/>
          </a:prstGeom>
        </p:spPr>
        <p:txBody>
          <a:bodyPr anchor="t" rtlCol="false" tIns="0" lIns="0" bIns="0" rIns="0">
            <a:spAutoFit/>
          </a:bodyPr>
          <a:lstStyle/>
          <a:p>
            <a:pPr algn="l">
              <a:lnSpc>
                <a:spcPts val="18829"/>
              </a:lnSpc>
            </a:pPr>
            <a:r>
              <a:rPr lang="en-US" b="true" sz="13449">
                <a:solidFill>
                  <a:srgbClr val="FFFFFF"/>
                </a:solidFill>
                <a:latin typeface="Inter Bold"/>
                <a:ea typeface="Inter Bold"/>
                <a:cs typeface="Inter Bold"/>
                <a:sym typeface="Inter Bold"/>
              </a:rPr>
              <a:t>FINAL PROJECT</a:t>
            </a:r>
          </a:p>
        </p:txBody>
      </p:sp>
      <p:sp>
        <p:nvSpPr>
          <p:cNvPr name="TextBox 14" id="14"/>
          <p:cNvSpPr txBox="true"/>
          <p:nvPr/>
        </p:nvSpPr>
        <p:spPr>
          <a:xfrm rot="0">
            <a:off x="1721384" y="4470851"/>
            <a:ext cx="16805087" cy="1056795"/>
          </a:xfrm>
          <a:prstGeom prst="rect">
            <a:avLst/>
          </a:prstGeom>
        </p:spPr>
        <p:txBody>
          <a:bodyPr anchor="t" rtlCol="false" tIns="0" lIns="0" bIns="0" rIns="0">
            <a:spAutoFit/>
          </a:bodyPr>
          <a:lstStyle/>
          <a:p>
            <a:pPr algn="l">
              <a:lnSpc>
                <a:spcPts val="8611"/>
              </a:lnSpc>
            </a:pPr>
            <a:r>
              <a:rPr lang="en-US" sz="6151" b="true">
                <a:solidFill>
                  <a:srgbClr val="FFFFFF"/>
                </a:solidFill>
                <a:latin typeface="Montserrat Semi-Bold"/>
                <a:ea typeface="Montserrat Semi-Bold"/>
                <a:cs typeface="Montserrat Semi-Bold"/>
                <a:sym typeface="Montserrat Semi-Bold"/>
              </a:rPr>
              <a:t>IT-330 Database Management Systems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18116" y="-397337"/>
            <a:ext cx="18606116" cy="12419583"/>
          </a:xfrm>
          <a:custGeom>
            <a:avLst/>
            <a:gdLst/>
            <a:ahLst/>
            <a:cxnLst/>
            <a:rect r="r" b="b" t="t" l="l"/>
            <a:pathLst>
              <a:path h="12419583" w="18606116">
                <a:moveTo>
                  <a:pt x="0" y="0"/>
                </a:moveTo>
                <a:lnTo>
                  <a:pt x="18606116" y="0"/>
                </a:lnTo>
                <a:lnTo>
                  <a:pt x="18606116" y="12419583"/>
                </a:lnTo>
                <a:lnTo>
                  <a:pt x="0" y="12419583"/>
                </a:lnTo>
                <a:lnTo>
                  <a:pt x="0" y="0"/>
                </a:lnTo>
                <a:close/>
              </a:path>
            </a:pathLst>
          </a:custGeom>
          <a:blipFill>
            <a:blip r:embed="rId2"/>
            <a:stretch>
              <a:fillRect l="0" t="0" r="0" b="0"/>
            </a:stretch>
          </a:blipFill>
        </p:spPr>
      </p:sp>
      <p:grpSp>
        <p:nvGrpSpPr>
          <p:cNvPr name="Group 3" id="3"/>
          <p:cNvGrpSpPr/>
          <p:nvPr/>
        </p:nvGrpSpPr>
        <p:grpSpPr>
          <a:xfrm rot="0">
            <a:off x="-6160533" y="-492858"/>
            <a:ext cx="24448533" cy="11644863"/>
            <a:chOff x="0" y="0"/>
            <a:chExt cx="6439120" cy="3066960"/>
          </a:xfrm>
        </p:grpSpPr>
        <p:sp>
          <p:nvSpPr>
            <p:cNvPr name="Freeform 4" id="4"/>
            <p:cNvSpPr/>
            <p:nvPr/>
          </p:nvSpPr>
          <p:spPr>
            <a:xfrm flipH="false" flipV="false" rot="0">
              <a:off x="0" y="0"/>
              <a:ext cx="6439120" cy="3066960"/>
            </a:xfrm>
            <a:custGeom>
              <a:avLst/>
              <a:gdLst/>
              <a:ahLst/>
              <a:cxnLst/>
              <a:rect r="r" b="b" t="t" l="l"/>
              <a:pathLst>
                <a:path h="3066960" w="6439120">
                  <a:moveTo>
                    <a:pt x="0" y="0"/>
                  </a:moveTo>
                  <a:lnTo>
                    <a:pt x="6439120" y="0"/>
                  </a:lnTo>
                  <a:lnTo>
                    <a:pt x="6439120" y="3066960"/>
                  </a:lnTo>
                  <a:lnTo>
                    <a:pt x="0" y="3066960"/>
                  </a:lnTo>
                  <a:close/>
                </a:path>
              </a:pathLst>
            </a:custGeom>
            <a:gradFill rotWithShape="true">
              <a:gsLst>
                <a:gs pos="0">
                  <a:srgbClr val="283E51">
                    <a:alpha val="0"/>
                  </a:srgbClr>
                </a:gs>
                <a:gs pos="33333">
                  <a:srgbClr val="283E51">
                    <a:alpha val="59645"/>
                  </a:srgbClr>
                </a:gs>
                <a:gs pos="66667">
                  <a:srgbClr val="283E51">
                    <a:alpha val="79000"/>
                  </a:srgbClr>
                </a:gs>
                <a:gs pos="100000">
                  <a:srgbClr val="122737">
                    <a:alpha val="79000"/>
                  </a:srgbClr>
                </a:gs>
              </a:gsLst>
              <a:lin ang="0"/>
            </a:gradFill>
          </p:spPr>
        </p:sp>
        <p:sp>
          <p:nvSpPr>
            <p:cNvPr name="TextBox 5" id="5"/>
            <p:cNvSpPr txBox="true"/>
            <p:nvPr/>
          </p:nvSpPr>
          <p:spPr>
            <a:xfrm>
              <a:off x="0" y="-38100"/>
              <a:ext cx="6439120" cy="310506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8100000">
            <a:off x="-2424928" y="2199617"/>
            <a:ext cx="3252461" cy="3252461"/>
          </a:xfrm>
          <a:custGeom>
            <a:avLst/>
            <a:gdLst/>
            <a:ahLst/>
            <a:cxnLst/>
            <a:rect r="r" b="b" t="t" l="l"/>
            <a:pathLst>
              <a:path h="3252461" w="3252461">
                <a:moveTo>
                  <a:pt x="0" y="0"/>
                </a:moveTo>
                <a:lnTo>
                  <a:pt x="3252461" y="0"/>
                </a:lnTo>
                <a:lnTo>
                  <a:pt x="3252461" y="3252461"/>
                </a:lnTo>
                <a:lnTo>
                  <a:pt x="0" y="325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8100000">
            <a:off x="-2424928" y="3845404"/>
            <a:ext cx="3252461" cy="3252461"/>
          </a:xfrm>
          <a:custGeom>
            <a:avLst/>
            <a:gdLst/>
            <a:ahLst/>
            <a:cxnLst/>
            <a:rect r="r" b="b" t="t" l="l"/>
            <a:pathLst>
              <a:path h="3252461" w="3252461">
                <a:moveTo>
                  <a:pt x="0" y="0"/>
                </a:moveTo>
                <a:lnTo>
                  <a:pt x="3252461" y="0"/>
                </a:lnTo>
                <a:lnTo>
                  <a:pt x="3252461" y="3252461"/>
                </a:lnTo>
                <a:lnTo>
                  <a:pt x="0" y="325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8100000">
            <a:off x="-2424928" y="5632263"/>
            <a:ext cx="3252461" cy="3252461"/>
          </a:xfrm>
          <a:custGeom>
            <a:avLst/>
            <a:gdLst/>
            <a:ahLst/>
            <a:cxnLst/>
            <a:rect r="r" b="b" t="t" l="l"/>
            <a:pathLst>
              <a:path h="3252461" w="3252461">
                <a:moveTo>
                  <a:pt x="0" y="0"/>
                </a:moveTo>
                <a:lnTo>
                  <a:pt x="3252461" y="0"/>
                </a:lnTo>
                <a:lnTo>
                  <a:pt x="3252461" y="3252461"/>
                </a:lnTo>
                <a:lnTo>
                  <a:pt x="0" y="325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8100000">
            <a:off x="-2424928" y="7346455"/>
            <a:ext cx="3252461" cy="3252461"/>
          </a:xfrm>
          <a:custGeom>
            <a:avLst/>
            <a:gdLst/>
            <a:ahLst/>
            <a:cxnLst/>
            <a:rect r="r" b="b" t="t" l="l"/>
            <a:pathLst>
              <a:path h="3252461" w="3252461">
                <a:moveTo>
                  <a:pt x="0" y="0"/>
                </a:moveTo>
                <a:lnTo>
                  <a:pt x="3252461" y="0"/>
                </a:lnTo>
                <a:lnTo>
                  <a:pt x="3252461" y="3252461"/>
                </a:lnTo>
                <a:lnTo>
                  <a:pt x="0" y="325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2700000">
            <a:off x="2457256" y="-750682"/>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183580" y="1086568"/>
            <a:ext cx="1589048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Semi-Bold"/>
                <a:ea typeface="Montserrat Semi-Bold"/>
                <a:cs typeface="Montserrat Semi-Bold"/>
                <a:sym typeface="Montserrat Semi-Bold"/>
              </a:rPr>
              <a:t>COMPANY OVERVIEW - NINTENDO</a:t>
            </a:r>
          </a:p>
        </p:txBody>
      </p:sp>
      <p:sp>
        <p:nvSpPr>
          <p:cNvPr name="TextBox 12" id="12"/>
          <p:cNvSpPr txBox="true"/>
          <p:nvPr/>
        </p:nvSpPr>
        <p:spPr>
          <a:xfrm rot="0">
            <a:off x="1823660" y="3098115"/>
            <a:ext cx="15557560" cy="1384300"/>
          </a:xfrm>
          <a:prstGeom prst="rect">
            <a:avLst/>
          </a:prstGeom>
        </p:spPr>
        <p:txBody>
          <a:bodyPr anchor="t" rtlCol="false" tIns="0" lIns="0" bIns="0" rIns="0">
            <a:spAutoFit/>
          </a:bodyPr>
          <a:lstStyle/>
          <a:p>
            <a:pPr algn="just">
              <a:lnSpc>
                <a:spcPts val="5599"/>
              </a:lnSpc>
            </a:pPr>
            <a:r>
              <a:rPr lang="en-US" sz="3999" b="true">
                <a:solidFill>
                  <a:srgbClr val="FFFFFF"/>
                </a:solidFill>
                <a:latin typeface="Canva Sans Bold"/>
                <a:ea typeface="Canva Sans Bold"/>
                <a:cs typeface="Canva Sans Bold"/>
                <a:sym typeface="Canva Sans Bold"/>
              </a:rPr>
              <a:t>Nintendo is a global leader in the video game industry based in Kyoto, Japan.</a:t>
            </a:r>
          </a:p>
        </p:txBody>
      </p:sp>
      <p:sp>
        <p:nvSpPr>
          <p:cNvPr name="TextBox 13" id="13"/>
          <p:cNvSpPr txBox="true"/>
          <p:nvPr/>
        </p:nvSpPr>
        <p:spPr>
          <a:xfrm rot="0">
            <a:off x="1823660" y="4741385"/>
            <a:ext cx="14092166" cy="1384300"/>
          </a:xfrm>
          <a:prstGeom prst="rect">
            <a:avLst/>
          </a:prstGeom>
        </p:spPr>
        <p:txBody>
          <a:bodyPr anchor="t" rtlCol="false" tIns="0" lIns="0" bIns="0" rIns="0">
            <a:spAutoFit/>
          </a:bodyPr>
          <a:lstStyle/>
          <a:p>
            <a:pPr algn="just">
              <a:lnSpc>
                <a:spcPts val="5599"/>
              </a:lnSpc>
            </a:pPr>
            <a:r>
              <a:rPr lang="en-US" sz="3999" b="true">
                <a:solidFill>
                  <a:srgbClr val="FFFFFF"/>
                </a:solidFill>
                <a:latin typeface="Canva Sans Bold"/>
                <a:ea typeface="Canva Sans Bold"/>
                <a:cs typeface="Canva Sans Bold"/>
                <a:sym typeface="Canva Sans Bold"/>
              </a:rPr>
              <a:t>They design and manufacture popular gaming hardware like Nintendo Switch.</a:t>
            </a:r>
          </a:p>
        </p:txBody>
      </p:sp>
      <p:sp>
        <p:nvSpPr>
          <p:cNvPr name="TextBox 14" id="14"/>
          <p:cNvSpPr txBox="true"/>
          <p:nvPr/>
        </p:nvSpPr>
        <p:spPr>
          <a:xfrm rot="0">
            <a:off x="1823660" y="6588266"/>
            <a:ext cx="15557560" cy="1384300"/>
          </a:xfrm>
          <a:prstGeom prst="rect">
            <a:avLst/>
          </a:prstGeom>
        </p:spPr>
        <p:txBody>
          <a:bodyPr anchor="t" rtlCol="false" tIns="0" lIns="0" bIns="0" rIns="0">
            <a:spAutoFit/>
          </a:bodyPr>
          <a:lstStyle/>
          <a:p>
            <a:pPr algn="just">
              <a:lnSpc>
                <a:spcPts val="5599"/>
              </a:lnSpc>
            </a:pPr>
            <a:r>
              <a:rPr lang="en-US" sz="3999" b="true">
                <a:solidFill>
                  <a:srgbClr val="FFFFFF"/>
                </a:solidFill>
                <a:latin typeface="Canva Sans Bold"/>
                <a:ea typeface="Canva Sans Bold"/>
                <a:cs typeface="Canva Sans Bold"/>
                <a:sym typeface="Canva Sans Bold"/>
              </a:rPr>
              <a:t>Thet created world-famous characters such as Mario, Link and Pikachu.</a:t>
            </a:r>
          </a:p>
        </p:txBody>
      </p:sp>
      <p:sp>
        <p:nvSpPr>
          <p:cNvPr name="TextBox 15" id="15"/>
          <p:cNvSpPr txBox="true"/>
          <p:nvPr/>
        </p:nvSpPr>
        <p:spPr>
          <a:xfrm rot="0">
            <a:off x="1823660" y="8229741"/>
            <a:ext cx="16012406" cy="1384300"/>
          </a:xfrm>
          <a:prstGeom prst="rect">
            <a:avLst/>
          </a:prstGeom>
        </p:spPr>
        <p:txBody>
          <a:bodyPr anchor="t" rtlCol="false" tIns="0" lIns="0" bIns="0" rIns="0">
            <a:spAutoFit/>
          </a:bodyPr>
          <a:lstStyle/>
          <a:p>
            <a:pPr algn="just">
              <a:lnSpc>
                <a:spcPts val="5599"/>
              </a:lnSpc>
            </a:pPr>
            <a:r>
              <a:rPr lang="en-US" sz="3999" b="true">
                <a:solidFill>
                  <a:srgbClr val="FFFFFF"/>
                </a:solidFill>
                <a:latin typeface="Canva Sans Bold"/>
                <a:ea typeface="Canva Sans Bold"/>
                <a:cs typeface="Canva Sans Bold"/>
                <a:sym typeface="Canva Sans Bold"/>
              </a:rPr>
              <a:t>The company focuses on delivering unique and innovative enternainment experiences for all ages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60120"/>
            <a:ext cx="18288000" cy="12207240"/>
          </a:xfrm>
          <a:custGeom>
            <a:avLst/>
            <a:gdLst/>
            <a:ahLst/>
            <a:cxnLst/>
            <a:rect r="r" b="b" t="t" l="l"/>
            <a:pathLst>
              <a:path h="12207240" w="18288000">
                <a:moveTo>
                  <a:pt x="0" y="0"/>
                </a:moveTo>
                <a:lnTo>
                  <a:pt x="18288000" y="0"/>
                </a:lnTo>
                <a:lnTo>
                  <a:pt x="18288000" y="12207240"/>
                </a:lnTo>
                <a:lnTo>
                  <a:pt x="0" y="12207240"/>
                </a:lnTo>
                <a:lnTo>
                  <a:pt x="0" y="0"/>
                </a:lnTo>
                <a:close/>
              </a:path>
            </a:pathLst>
          </a:custGeom>
          <a:blipFill>
            <a:blip r:embed="rId2"/>
            <a:stretch>
              <a:fillRect l="0" t="0" r="0" b="0"/>
            </a:stretch>
          </a:blipFill>
        </p:spPr>
      </p:sp>
      <p:grpSp>
        <p:nvGrpSpPr>
          <p:cNvPr name="Group 3" id="3"/>
          <p:cNvGrpSpPr/>
          <p:nvPr/>
        </p:nvGrpSpPr>
        <p:grpSpPr>
          <a:xfrm rot="0">
            <a:off x="0" y="77456"/>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283E51">
                    <a:alpha val="0"/>
                  </a:srgbClr>
                </a:gs>
                <a:gs pos="33333">
                  <a:srgbClr val="283E51">
                    <a:alpha val="46810"/>
                  </a:srgbClr>
                </a:gs>
                <a:gs pos="66667">
                  <a:srgbClr val="283E51">
                    <a:alpha val="62000"/>
                  </a:srgbClr>
                </a:gs>
                <a:gs pos="100000">
                  <a:srgbClr val="122737">
                    <a:alpha val="62000"/>
                  </a:srgbClr>
                </a:gs>
              </a:gsLst>
              <a:lin ang="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2472433" y="-1365629"/>
            <a:ext cx="6149853" cy="6149853"/>
          </a:xfrm>
          <a:custGeom>
            <a:avLst/>
            <a:gdLst/>
            <a:ahLst/>
            <a:cxnLst/>
            <a:rect r="r" b="b" t="t" l="l"/>
            <a:pathLst>
              <a:path h="6149853" w="6149853">
                <a:moveTo>
                  <a:pt x="0" y="0"/>
                </a:moveTo>
                <a:lnTo>
                  <a:pt x="6149854" y="0"/>
                </a:lnTo>
                <a:lnTo>
                  <a:pt x="6149854"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4412932" y="7418070"/>
            <a:ext cx="106680" cy="112395"/>
            <a:chOff x="0" y="0"/>
            <a:chExt cx="142240" cy="149860"/>
          </a:xfrm>
        </p:grpSpPr>
        <p:sp>
          <p:nvSpPr>
            <p:cNvPr name="Freeform 8" id="8"/>
            <p:cNvSpPr/>
            <p:nvPr/>
          </p:nvSpPr>
          <p:spPr>
            <a:xfrm flipH="false" flipV="false" rot="0">
              <a:off x="50800" y="50731"/>
              <a:ext cx="40640" cy="48419"/>
            </a:xfrm>
            <a:custGeom>
              <a:avLst/>
              <a:gdLst/>
              <a:ahLst/>
              <a:cxnLst/>
              <a:rect r="r" b="b" t="t" l="l"/>
              <a:pathLst>
                <a:path h="48419" w="40640">
                  <a:moveTo>
                    <a:pt x="0" y="19119"/>
                  </a:moveTo>
                  <a:cubicBezTo>
                    <a:pt x="31750" y="2609"/>
                    <a:pt x="38100" y="15309"/>
                    <a:pt x="38100" y="21659"/>
                  </a:cubicBezTo>
                  <a:cubicBezTo>
                    <a:pt x="38100" y="26739"/>
                    <a:pt x="33020" y="34359"/>
                    <a:pt x="27940" y="35629"/>
                  </a:cubicBezTo>
                  <a:cubicBezTo>
                    <a:pt x="21590" y="38169"/>
                    <a:pt x="1270" y="26739"/>
                    <a:pt x="0" y="21659"/>
                  </a:cubicBezTo>
                  <a:cubicBezTo>
                    <a:pt x="0" y="15309"/>
                    <a:pt x="17780" y="-1201"/>
                    <a:pt x="24130" y="69"/>
                  </a:cubicBezTo>
                  <a:cubicBezTo>
                    <a:pt x="31750" y="1339"/>
                    <a:pt x="40640" y="20389"/>
                    <a:pt x="40640" y="29279"/>
                  </a:cubicBezTo>
                  <a:cubicBezTo>
                    <a:pt x="39370" y="35629"/>
                    <a:pt x="31750" y="47059"/>
                    <a:pt x="25400" y="48329"/>
                  </a:cubicBezTo>
                  <a:cubicBezTo>
                    <a:pt x="19050" y="49599"/>
                    <a:pt x="0" y="36899"/>
                    <a:pt x="0" y="36899"/>
                  </a:cubicBezTo>
                </a:path>
              </a:pathLst>
            </a:custGeom>
            <a:solidFill>
              <a:srgbClr val="E7191F"/>
            </a:solidFill>
            <a:ln cap="sq">
              <a:noFill/>
              <a:prstDash val="solid"/>
              <a:miter/>
            </a:ln>
          </p:spPr>
        </p:sp>
      </p:grpSp>
      <p:sp>
        <p:nvSpPr>
          <p:cNvPr name="TextBox 9" id="9"/>
          <p:cNvSpPr txBox="true"/>
          <p:nvPr/>
        </p:nvSpPr>
        <p:spPr>
          <a:xfrm rot="0">
            <a:off x="1198757" y="471620"/>
            <a:ext cx="1589048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Semi-Bold"/>
                <a:ea typeface="Montserrat Semi-Bold"/>
                <a:cs typeface="Montserrat Semi-Bold"/>
                <a:sym typeface="Montserrat Semi-Bold"/>
              </a:rPr>
              <a:t>DATA SOURCE &amp; SCREEN ANALYSIS</a:t>
            </a:r>
          </a:p>
        </p:txBody>
      </p:sp>
      <p:sp>
        <p:nvSpPr>
          <p:cNvPr name="TextBox 10" id="10"/>
          <p:cNvSpPr txBox="true"/>
          <p:nvPr/>
        </p:nvSpPr>
        <p:spPr>
          <a:xfrm rot="0">
            <a:off x="230699" y="3381124"/>
            <a:ext cx="6121039" cy="4301741"/>
          </a:xfrm>
          <a:prstGeom prst="rect">
            <a:avLst/>
          </a:prstGeom>
        </p:spPr>
        <p:txBody>
          <a:bodyPr anchor="t" rtlCol="false" tIns="0" lIns="0" bIns="0" rIns="0">
            <a:spAutoFit/>
          </a:bodyPr>
          <a:lstStyle/>
          <a:p>
            <a:pPr algn="l" marL="889986" indent="-444993" lvl="1">
              <a:lnSpc>
                <a:spcPts val="5771"/>
              </a:lnSpc>
              <a:buFont typeface="Arial"/>
              <a:buChar char="•"/>
            </a:pPr>
            <a:r>
              <a:rPr lang="en-US" b="true" sz="4122">
                <a:solidFill>
                  <a:srgbClr val="FFFFFF"/>
                </a:solidFill>
                <a:latin typeface="Canva Sans Bold"/>
                <a:ea typeface="Canva Sans Bold"/>
                <a:cs typeface="Canva Sans Bold"/>
                <a:sym typeface="Canva Sans Bold"/>
              </a:rPr>
              <a:t>Scope: Identified 5 core entities (Product, Customer, Order, Shipping, Retailer)across 10 functional screens.</a:t>
            </a:r>
          </a:p>
        </p:txBody>
      </p:sp>
      <p:grpSp>
        <p:nvGrpSpPr>
          <p:cNvPr name="Group 11" id="11"/>
          <p:cNvGrpSpPr/>
          <p:nvPr/>
        </p:nvGrpSpPr>
        <p:grpSpPr>
          <a:xfrm rot="0">
            <a:off x="4565332" y="7570470"/>
            <a:ext cx="106680" cy="112395"/>
            <a:chOff x="0" y="0"/>
            <a:chExt cx="142240" cy="149860"/>
          </a:xfrm>
        </p:grpSpPr>
        <p:sp>
          <p:nvSpPr>
            <p:cNvPr name="Freeform 12" id="12"/>
            <p:cNvSpPr/>
            <p:nvPr/>
          </p:nvSpPr>
          <p:spPr>
            <a:xfrm flipH="false" flipV="false" rot="0">
              <a:off x="50800" y="50731"/>
              <a:ext cx="40640" cy="48419"/>
            </a:xfrm>
            <a:custGeom>
              <a:avLst/>
              <a:gdLst/>
              <a:ahLst/>
              <a:cxnLst/>
              <a:rect r="r" b="b" t="t" l="l"/>
              <a:pathLst>
                <a:path h="48419" w="40640">
                  <a:moveTo>
                    <a:pt x="0" y="19119"/>
                  </a:moveTo>
                  <a:cubicBezTo>
                    <a:pt x="31750" y="2609"/>
                    <a:pt x="38100" y="15309"/>
                    <a:pt x="38100" y="21659"/>
                  </a:cubicBezTo>
                  <a:cubicBezTo>
                    <a:pt x="38100" y="26739"/>
                    <a:pt x="33020" y="34359"/>
                    <a:pt x="27940" y="35629"/>
                  </a:cubicBezTo>
                  <a:cubicBezTo>
                    <a:pt x="21590" y="38169"/>
                    <a:pt x="1270" y="26739"/>
                    <a:pt x="0" y="21659"/>
                  </a:cubicBezTo>
                  <a:cubicBezTo>
                    <a:pt x="0" y="15309"/>
                    <a:pt x="17780" y="-1201"/>
                    <a:pt x="24130" y="69"/>
                  </a:cubicBezTo>
                  <a:cubicBezTo>
                    <a:pt x="31750" y="1339"/>
                    <a:pt x="40640" y="20389"/>
                    <a:pt x="40640" y="29279"/>
                  </a:cubicBezTo>
                  <a:cubicBezTo>
                    <a:pt x="39370" y="35629"/>
                    <a:pt x="31750" y="47059"/>
                    <a:pt x="25400" y="48329"/>
                  </a:cubicBezTo>
                  <a:cubicBezTo>
                    <a:pt x="19050" y="49599"/>
                    <a:pt x="0" y="36899"/>
                    <a:pt x="0" y="36899"/>
                  </a:cubicBezTo>
                </a:path>
              </a:pathLst>
            </a:custGeom>
            <a:solidFill>
              <a:srgbClr val="E7191F"/>
            </a:solidFill>
            <a:ln cap="sq">
              <a:noFill/>
              <a:prstDash val="solid"/>
              <a:miter/>
            </a:ln>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60120"/>
            <a:ext cx="18288000" cy="12207240"/>
          </a:xfrm>
          <a:custGeom>
            <a:avLst/>
            <a:gdLst/>
            <a:ahLst/>
            <a:cxnLst/>
            <a:rect r="r" b="b" t="t" l="l"/>
            <a:pathLst>
              <a:path h="12207240" w="18288000">
                <a:moveTo>
                  <a:pt x="0" y="0"/>
                </a:moveTo>
                <a:lnTo>
                  <a:pt x="18288000" y="0"/>
                </a:lnTo>
                <a:lnTo>
                  <a:pt x="18288000" y="12207240"/>
                </a:lnTo>
                <a:lnTo>
                  <a:pt x="0" y="12207240"/>
                </a:lnTo>
                <a:lnTo>
                  <a:pt x="0" y="0"/>
                </a:lnTo>
                <a:close/>
              </a:path>
            </a:pathLst>
          </a:custGeom>
          <a:blipFill>
            <a:blip r:embed="rId2"/>
            <a:stretch>
              <a:fillRect l="0" t="0" r="0" b="0"/>
            </a:stretch>
          </a:blipFill>
        </p:spPr>
      </p:sp>
      <p:grpSp>
        <p:nvGrpSpPr>
          <p:cNvPr name="Group 3" id="3"/>
          <p:cNvGrpSpPr/>
          <p:nvPr/>
        </p:nvGrpSpPr>
        <p:grpSpPr>
          <a:xfrm rot="0">
            <a:off x="0" y="77456"/>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283E51">
                    <a:alpha val="0"/>
                  </a:srgbClr>
                </a:gs>
                <a:gs pos="33333">
                  <a:srgbClr val="283E51">
                    <a:alpha val="46810"/>
                  </a:srgbClr>
                </a:gs>
                <a:gs pos="66667">
                  <a:srgbClr val="283E51">
                    <a:alpha val="62000"/>
                  </a:srgbClr>
                </a:gs>
                <a:gs pos="100000">
                  <a:srgbClr val="122737">
                    <a:alpha val="62000"/>
                  </a:srgbClr>
                </a:gs>
              </a:gsLst>
              <a:lin ang="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2472433" y="-1365629"/>
            <a:ext cx="6149853" cy="6149853"/>
          </a:xfrm>
          <a:custGeom>
            <a:avLst/>
            <a:gdLst/>
            <a:ahLst/>
            <a:cxnLst/>
            <a:rect r="r" b="b" t="t" l="l"/>
            <a:pathLst>
              <a:path h="6149853" w="6149853">
                <a:moveTo>
                  <a:pt x="0" y="0"/>
                </a:moveTo>
                <a:lnTo>
                  <a:pt x="6149854" y="0"/>
                </a:lnTo>
                <a:lnTo>
                  <a:pt x="6149854"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4412932" y="7418070"/>
            <a:ext cx="106680" cy="112395"/>
            <a:chOff x="0" y="0"/>
            <a:chExt cx="142240" cy="149860"/>
          </a:xfrm>
        </p:grpSpPr>
        <p:sp>
          <p:nvSpPr>
            <p:cNvPr name="Freeform 8" id="8"/>
            <p:cNvSpPr/>
            <p:nvPr/>
          </p:nvSpPr>
          <p:spPr>
            <a:xfrm flipH="false" flipV="false" rot="0">
              <a:off x="50800" y="50731"/>
              <a:ext cx="40640" cy="48419"/>
            </a:xfrm>
            <a:custGeom>
              <a:avLst/>
              <a:gdLst/>
              <a:ahLst/>
              <a:cxnLst/>
              <a:rect r="r" b="b" t="t" l="l"/>
              <a:pathLst>
                <a:path h="48419" w="40640">
                  <a:moveTo>
                    <a:pt x="0" y="19119"/>
                  </a:moveTo>
                  <a:cubicBezTo>
                    <a:pt x="31750" y="2609"/>
                    <a:pt x="38100" y="15309"/>
                    <a:pt x="38100" y="21659"/>
                  </a:cubicBezTo>
                  <a:cubicBezTo>
                    <a:pt x="38100" y="26739"/>
                    <a:pt x="33020" y="34359"/>
                    <a:pt x="27940" y="35629"/>
                  </a:cubicBezTo>
                  <a:cubicBezTo>
                    <a:pt x="21590" y="38169"/>
                    <a:pt x="1270" y="26739"/>
                    <a:pt x="0" y="21659"/>
                  </a:cubicBezTo>
                  <a:cubicBezTo>
                    <a:pt x="0" y="15309"/>
                    <a:pt x="17780" y="-1201"/>
                    <a:pt x="24130" y="69"/>
                  </a:cubicBezTo>
                  <a:cubicBezTo>
                    <a:pt x="31750" y="1339"/>
                    <a:pt x="40640" y="20389"/>
                    <a:pt x="40640" y="29279"/>
                  </a:cubicBezTo>
                  <a:cubicBezTo>
                    <a:pt x="39370" y="35629"/>
                    <a:pt x="31750" y="47059"/>
                    <a:pt x="25400" y="48329"/>
                  </a:cubicBezTo>
                  <a:cubicBezTo>
                    <a:pt x="19050" y="49599"/>
                    <a:pt x="0" y="36899"/>
                    <a:pt x="0" y="36899"/>
                  </a:cubicBezTo>
                </a:path>
              </a:pathLst>
            </a:custGeom>
            <a:solidFill>
              <a:srgbClr val="E7191F"/>
            </a:solidFill>
            <a:ln cap="sq">
              <a:noFill/>
              <a:prstDash val="solid"/>
              <a:miter/>
            </a:ln>
          </p:spPr>
        </p:sp>
      </p:grpSp>
      <p:sp>
        <p:nvSpPr>
          <p:cNvPr name="TextBox 9" id="9"/>
          <p:cNvSpPr txBox="true"/>
          <p:nvPr/>
        </p:nvSpPr>
        <p:spPr>
          <a:xfrm rot="0">
            <a:off x="1198757" y="471620"/>
            <a:ext cx="1589048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Semi-Bold"/>
                <a:ea typeface="Montserrat Semi-Bold"/>
                <a:cs typeface="Montserrat Semi-Bold"/>
                <a:sym typeface="Montserrat Semi-Bold"/>
              </a:rPr>
              <a:t>DATA SOURCE &amp; SCREEN ANALYSIS</a:t>
            </a:r>
          </a:p>
        </p:txBody>
      </p:sp>
      <p:sp>
        <p:nvSpPr>
          <p:cNvPr name="TextBox 10" id="10"/>
          <p:cNvSpPr txBox="true"/>
          <p:nvPr/>
        </p:nvSpPr>
        <p:spPr>
          <a:xfrm rot="0">
            <a:off x="230699" y="3381124"/>
            <a:ext cx="6121039" cy="4301741"/>
          </a:xfrm>
          <a:prstGeom prst="rect">
            <a:avLst/>
          </a:prstGeom>
        </p:spPr>
        <p:txBody>
          <a:bodyPr anchor="t" rtlCol="false" tIns="0" lIns="0" bIns="0" rIns="0">
            <a:spAutoFit/>
          </a:bodyPr>
          <a:lstStyle/>
          <a:p>
            <a:pPr algn="l" marL="889986" indent="-444993" lvl="1">
              <a:lnSpc>
                <a:spcPts val="5771"/>
              </a:lnSpc>
              <a:buFont typeface="Arial"/>
              <a:buChar char="•"/>
            </a:pPr>
            <a:r>
              <a:rPr lang="en-US" b="true" sz="4122">
                <a:solidFill>
                  <a:srgbClr val="FFFFFF"/>
                </a:solidFill>
                <a:latin typeface="Canva Sans Bold"/>
                <a:ea typeface="Canva Sans Bold"/>
                <a:cs typeface="Canva Sans Bold"/>
                <a:sym typeface="Canva Sans Bold"/>
              </a:rPr>
              <a:t>Scope: Identified 5 core entities (Product, Customer, Order, Shipping, Retailer)across 10 functional screens.</a:t>
            </a:r>
          </a:p>
        </p:txBody>
      </p:sp>
      <p:sp>
        <p:nvSpPr>
          <p:cNvPr name="Freeform 11" id="11"/>
          <p:cNvSpPr/>
          <p:nvPr/>
        </p:nvSpPr>
        <p:spPr>
          <a:xfrm flipH="false" flipV="false" rot="0">
            <a:off x="12706365" y="1709297"/>
            <a:ext cx="4866864" cy="8011299"/>
          </a:xfrm>
          <a:custGeom>
            <a:avLst/>
            <a:gdLst/>
            <a:ahLst/>
            <a:cxnLst/>
            <a:rect r="r" b="b" t="t" l="l"/>
            <a:pathLst>
              <a:path h="8011299" w="4866864">
                <a:moveTo>
                  <a:pt x="0" y="0"/>
                </a:moveTo>
                <a:lnTo>
                  <a:pt x="4866864" y="0"/>
                </a:lnTo>
                <a:lnTo>
                  <a:pt x="4866864" y="8011299"/>
                </a:lnTo>
                <a:lnTo>
                  <a:pt x="0" y="8011299"/>
                </a:lnTo>
                <a:lnTo>
                  <a:pt x="0" y="0"/>
                </a:lnTo>
                <a:close/>
              </a:path>
            </a:pathLst>
          </a:custGeom>
          <a:blipFill>
            <a:blip r:embed="rId5"/>
            <a:stretch>
              <a:fillRect l="0" t="0" r="0" b="0"/>
            </a:stretch>
          </a:blipFill>
        </p:spPr>
      </p:sp>
      <p:grpSp>
        <p:nvGrpSpPr>
          <p:cNvPr name="Group 12" id="12"/>
          <p:cNvGrpSpPr/>
          <p:nvPr/>
        </p:nvGrpSpPr>
        <p:grpSpPr>
          <a:xfrm rot="0">
            <a:off x="4565332" y="7570470"/>
            <a:ext cx="106680" cy="112395"/>
            <a:chOff x="0" y="0"/>
            <a:chExt cx="142240" cy="149860"/>
          </a:xfrm>
        </p:grpSpPr>
        <p:sp>
          <p:nvSpPr>
            <p:cNvPr name="Freeform 13" id="13"/>
            <p:cNvSpPr/>
            <p:nvPr/>
          </p:nvSpPr>
          <p:spPr>
            <a:xfrm flipH="false" flipV="false" rot="0">
              <a:off x="50800" y="50731"/>
              <a:ext cx="40640" cy="48419"/>
            </a:xfrm>
            <a:custGeom>
              <a:avLst/>
              <a:gdLst/>
              <a:ahLst/>
              <a:cxnLst/>
              <a:rect r="r" b="b" t="t" l="l"/>
              <a:pathLst>
                <a:path h="48419" w="40640">
                  <a:moveTo>
                    <a:pt x="0" y="19119"/>
                  </a:moveTo>
                  <a:cubicBezTo>
                    <a:pt x="31750" y="2609"/>
                    <a:pt x="38100" y="15309"/>
                    <a:pt x="38100" y="21659"/>
                  </a:cubicBezTo>
                  <a:cubicBezTo>
                    <a:pt x="38100" y="26739"/>
                    <a:pt x="33020" y="34359"/>
                    <a:pt x="27940" y="35629"/>
                  </a:cubicBezTo>
                  <a:cubicBezTo>
                    <a:pt x="21590" y="38169"/>
                    <a:pt x="1270" y="26739"/>
                    <a:pt x="0" y="21659"/>
                  </a:cubicBezTo>
                  <a:cubicBezTo>
                    <a:pt x="0" y="15309"/>
                    <a:pt x="17780" y="-1201"/>
                    <a:pt x="24130" y="69"/>
                  </a:cubicBezTo>
                  <a:cubicBezTo>
                    <a:pt x="31750" y="1339"/>
                    <a:pt x="40640" y="20389"/>
                    <a:pt x="40640" y="29279"/>
                  </a:cubicBezTo>
                  <a:cubicBezTo>
                    <a:pt x="39370" y="35629"/>
                    <a:pt x="31750" y="47059"/>
                    <a:pt x="25400" y="48329"/>
                  </a:cubicBezTo>
                  <a:cubicBezTo>
                    <a:pt x="19050" y="49599"/>
                    <a:pt x="0" y="36899"/>
                    <a:pt x="0" y="36899"/>
                  </a:cubicBezTo>
                </a:path>
              </a:pathLst>
            </a:custGeom>
            <a:solidFill>
              <a:srgbClr val="E7191F"/>
            </a:solidFill>
            <a:ln cap="sq">
              <a:noFill/>
              <a:prstDash val="solid"/>
              <a:miter/>
            </a:ln>
          </p:spPr>
        </p:sp>
      </p:grpSp>
      <p:sp>
        <p:nvSpPr>
          <p:cNvPr name="Freeform 14" id="14"/>
          <p:cNvSpPr/>
          <p:nvPr/>
        </p:nvSpPr>
        <p:spPr>
          <a:xfrm flipH="false" flipV="false" rot="196113">
            <a:off x="13212192" y="6143780"/>
            <a:ext cx="3058185" cy="1601377"/>
          </a:xfrm>
          <a:custGeom>
            <a:avLst/>
            <a:gdLst/>
            <a:ahLst/>
            <a:cxnLst/>
            <a:rect r="r" b="b" t="t" l="l"/>
            <a:pathLst>
              <a:path h="1601377" w="3058185">
                <a:moveTo>
                  <a:pt x="0" y="0"/>
                </a:moveTo>
                <a:lnTo>
                  <a:pt x="3058184" y="0"/>
                </a:lnTo>
                <a:lnTo>
                  <a:pt x="3058184" y="1601377"/>
                </a:lnTo>
                <a:lnTo>
                  <a:pt x="0" y="16013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196113">
            <a:off x="13204648" y="8061737"/>
            <a:ext cx="2523732" cy="1321518"/>
          </a:xfrm>
          <a:custGeom>
            <a:avLst/>
            <a:gdLst/>
            <a:ahLst/>
            <a:cxnLst/>
            <a:rect r="r" b="b" t="t" l="l"/>
            <a:pathLst>
              <a:path h="1321518" w="2523732">
                <a:moveTo>
                  <a:pt x="0" y="0"/>
                </a:moveTo>
                <a:lnTo>
                  <a:pt x="2523733" y="0"/>
                </a:lnTo>
                <a:lnTo>
                  <a:pt x="2523733" y="1321518"/>
                </a:lnTo>
                <a:lnTo>
                  <a:pt x="0" y="13215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453635">
            <a:off x="15993069" y="8553453"/>
            <a:ext cx="1533984" cy="803250"/>
          </a:xfrm>
          <a:custGeom>
            <a:avLst/>
            <a:gdLst/>
            <a:ahLst/>
            <a:cxnLst/>
            <a:rect r="r" b="b" t="t" l="l"/>
            <a:pathLst>
              <a:path h="803250" w="1533984">
                <a:moveTo>
                  <a:pt x="0" y="0"/>
                </a:moveTo>
                <a:lnTo>
                  <a:pt x="1533984" y="0"/>
                </a:lnTo>
                <a:lnTo>
                  <a:pt x="1533984" y="803249"/>
                </a:lnTo>
                <a:lnTo>
                  <a:pt x="0" y="8032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60120"/>
            <a:ext cx="18288000" cy="12207240"/>
          </a:xfrm>
          <a:custGeom>
            <a:avLst/>
            <a:gdLst/>
            <a:ahLst/>
            <a:cxnLst/>
            <a:rect r="r" b="b" t="t" l="l"/>
            <a:pathLst>
              <a:path h="12207240" w="18288000">
                <a:moveTo>
                  <a:pt x="0" y="0"/>
                </a:moveTo>
                <a:lnTo>
                  <a:pt x="18288000" y="0"/>
                </a:lnTo>
                <a:lnTo>
                  <a:pt x="18288000" y="12207240"/>
                </a:lnTo>
                <a:lnTo>
                  <a:pt x="0" y="12207240"/>
                </a:lnTo>
                <a:lnTo>
                  <a:pt x="0" y="0"/>
                </a:lnTo>
                <a:close/>
              </a:path>
            </a:pathLst>
          </a:custGeom>
          <a:blipFill>
            <a:blip r:embed="rId2"/>
            <a:stretch>
              <a:fillRect l="0" t="0" r="0" b="0"/>
            </a:stretch>
          </a:blipFill>
        </p:spPr>
      </p:sp>
      <p:grpSp>
        <p:nvGrpSpPr>
          <p:cNvPr name="Group 3" id="3"/>
          <p:cNvGrpSpPr/>
          <p:nvPr/>
        </p:nvGrpSpPr>
        <p:grpSpPr>
          <a:xfrm rot="0">
            <a:off x="0" y="77456"/>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283E51">
                    <a:alpha val="0"/>
                  </a:srgbClr>
                </a:gs>
                <a:gs pos="33333">
                  <a:srgbClr val="283E51">
                    <a:alpha val="46810"/>
                  </a:srgbClr>
                </a:gs>
                <a:gs pos="66667">
                  <a:srgbClr val="283E51">
                    <a:alpha val="62000"/>
                  </a:srgbClr>
                </a:gs>
                <a:gs pos="100000">
                  <a:srgbClr val="122737">
                    <a:alpha val="62000"/>
                  </a:srgbClr>
                </a:gs>
              </a:gsLst>
              <a:lin ang="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2472433" y="-1365629"/>
            <a:ext cx="6149853" cy="6149853"/>
          </a:xfrm>
          <a:custGeom>
            <a:avLst/>
            <a:gdLst/>
            <a:ahLst/>
            <a:cxnLst/>
            <a:rect r="r" b="b" t="t" l="l"/>
            <a:pathLst>
              <a:path h="6149853" w="6149853">
                <a:moveTo>
                  <a:pt x="0" y="0"/>
                </a:moveTo>
                <a:lnTo>
                  <a:pt x="6149854" y="0"/>
                </a:lnTo>
                <a:lnTo>
                  <a:pt x="6149854"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4412932" y="7418070"/>
            <a:ext cx="106680" cy="112395"/>
            <a:chOff x="0" y="0"/>
            <a:chExt cx="142240" cy="149860"/>
          </a:xfrm>
        </p:grpSpPr>
        <p:sp>
          <p:nvSpPr>
            <p:cNvPr name="Freeform 8" id="8"/>
            <p:cNvSpPr/>
            <p:nvPr/>
          </p:nvSpPr>
          <p:spPr>
            <a:xfrm flipH="false" flipV="false" rot="0">
              <a:off x="50800" y="50731"/>
              <a:ext cx="40640" cy="48419"/>
            </a:xfrm>
            <a:custGeom>
              <a:avLst/>
              <a:gdLst/>
              <a:ahLst/>
              <a:cxnLst/>
              <a:rect r="r" b="b" t="t" l="l"/>
              <a:pathLst>
                <a:path h="48419" w="40640">
                  <a:moveTo>
                    <a:pt x="0" y="19119"/>
                  </a:moveTo>
                  <a:cubicBezTo>
                    <a:pt x="31750" y="2609"/>
                    <a:pt x="38100" y="15309"/>
                    <a:pt x="38100" y="21659"/>
                  </a:cubicBezTo>
                  <a:cubicBezTo>
                    <a:pt x="38100" y="26739"/>
                    <a:pt x="33020" y="34359"/>
                    <a:pt x="27940" y="35629"/>
                  </a:cubicBezTo>
                  <a:cubicBezTo>
                    <a:pt x="21590" y="38169"/>
                    <a:pt x="1270" y="26739"/>
                    <a:pt x="0" y="21659"/>
                  </a:cubicBezTo>
                  <a:cubicBezTo>
                    <a:pt x="0" y="15309"/>
                    <a:pt x="17780" y="-1201"/>
                    <a:pt x="24130" y="69"/>
                  </a:cubicBezTo>
                  <a:cubicBezTo>
                    <a:pt x="31750" y="1339"/>
                    <a:pt x="40640" y="20389"/>
                    <a:pt x="40640" y="29279"/>
                  </a:cubicBezTo>
                  <a:cubicBezTo>
                    <a:pt x="39370" y="35629"/>
                    <a:pt x="31750" y="47059"/>
                    <a:pt x="25400" y="48329"/>
                  </a:cubicBezTo>
                  <a:cubicBezTo>
                    <a:pt x="19050" y="49599"/>
                    <a:pt x="0" y="36899"/>
                    <a:pt x="0" y="36899"/>
                  </a:cubicBezTo>
                </a:path>
              </a:pathLst>
            </a:custGeom>
            <a:solidFill>
              <a:srgbClr val="E7191F"/>
            </a:solidFill>
            <a:ln cap="sq">
              <a:noFill/>
              <a:prstDash val="solid"/>
              <a:miter/>
            </a:ln>
          </p:spPr>
        </p:sp>
      </p:grpSp>
      <p:sp>
        <p:nvSpPr>
          <p:cNvPr name="TextBox 9" id="9"/>
          <p:cNvSpPr txBox="true"/>
          <p:nvPr/>
        </p:nvSpPr>
        <p:spPr>
          <a:xfrm rot="0">
            <a:off x="1198757" y="471620"/>
            <a:ext cx="1589048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Semi-Bold"/>
                <a:ea typeface="Montserrat Semi-Bold"/>
                <a:cs typeface="Montserrat Semi-Bold"/>
                <a:sym typeface="Montserrat Semi-Bold"/>
              </a:rPr>
              <a:t>DATA SOURCE &amp; SCREEN ANALYSIS</a:t>
            </a:r>
          </a:p>
        </p:txBody>
      </p:sp>
      <p:sp>
        <p:nvSpPr>
          <p:cNvPr name="TextBox 10" id="10"/>
          <p:cNvSpPr txBox="true"/>
          <p:nvPr/>
        </p:nvSpPr>
        <p:spPr>
          <a:xfrm rot="0">
            <a:off x="230699" y="3381124"/>
            <a:ext cx="6121039" cy="4301741"/>
          </a:xfrm>
          <a:prstGeom prst="rect">
            <a:avLst/>
          </a:prstGeom>
        </p:spPr>
        <p:txBody>
          <a:bodyPr anchor="t" rtlCol="false" tIns="0" lIns="0" bIns="0" rIns="0">
            <a:spAutoFit/>
          </a:bodyPr>
          <a:lstStyle/>
          <a:p>
            <a:pPr algn="l" marL="889986" indent="-444993" lvl="1">
              <a:lnSpc>
                <a:spcPts val="5771"/>
              </a:lnSpc>
              <a:buFont typeface="Arial"/>
              <a:buChar char="•"/>
            </a:pPr>
            <a:r>
              <a:rPr lang="en-US" b="true" sz="4122">
                <a:solidFill>
                  <a:srgbClr val="FFFFFF"/>
                </a:solidFill>
                <a:latin typeface="Canva Sans Bold"/>
                <a:ea typeface="Canva Sans Bold"/>
                <a:cs typeface="Canva Sans Bold"/>
                <a:sym typeface="Canva Sans Bold"/>
              </a:rPr>
              <a:t>Scope: Identified 5 core entities (Product, Customer, Order, Shipping, Retailer)across 10 functional screens.</a:t>
            </a:r>
          </a:p>
        </p:txBody>
      </p:sp>
      <p:grpSp>
        <p:nvGrpSpPr>
          <p:cNvPr name="Group 11" id="11"/>
          <p:cNvGrpSpPr/>
          <p:nvPr/>
        </p:nvGrpSpPr>
        <p:grpSpPr>
          <a:xfrm rot="0">
            <a:off x="4565332" y="7570470"/>
            <a:ext cx="106680" cy="112395"/>
            <a:chOff x="0" y="0"/>
            <a:chExt cx="142240" cy="149860"/>
          </a:xfrm>
        </p:grpSpPr>
        <p:sp>
          <p:nvSpPr>
            <p:cNvPr name="Freeform 12" id="12"/>
            <p:cNvSpPr/>
            <p:nvPr/>
          </p:nvSpPr>
          <p:spPr>
            <a:xfrm flipH="false" flipV="false" rot="0">
              <a:off x="50800" y="50731"/>
              <a:ext cx="40640" cy="48419"/>
            </a:xfrm>
            <a:custGeom>
              <a:avLst/>
              <a:gdLst/>
              <a:ahLst/>
              <a:cxnLst/>
              <a:rect r="r" b="b" t="t" l="l"/>
              <a:pathLst>
                <a:path h="48419" w="40640">
                  <a:moveTo>
                    <a:pt x="0" y="19119"/>
                  </a:moveTo>
                  <a:cubicBezTo>
                    <a:pt x="31750" y="2609"/>
                    <a:pt x="38100" y="15309"/>
                    <a:pt x="38100" y="21659"/>
                  </a:cubicBezTo>
                  <a:cubicBezTo>
                    <a:pt x="38100" y="26739"/>
                    <a:pt x="33020" y="34359"/>
                    <a:pt x="27940" y="35629"/>
                  </a:cubicBezTo>
                  <a:cubicBezTo>
                    <a:pt x="21590" y="38169"/>
                    <a:pt x="1270" y="26739"/>
                    <a:pt x="0" y="21659"/>
                  </a:cubicBezTo>
                  <a:cubicBezTo>
                    <a:pt x="0" y="15309"/>
                    <a:pt x="17780" y="-1201"/>
                    <a:pt x="24130" y="69"/>
                  </a:cubicBezTo>
                  <a:cubicBezTo>
                    <a:pt x="31750" y="1339"/>
                    <a:pt x="40640" y="20389"/>
                    <a:pt x="40640" y="29279"/>
                  </a:cubicBezTo>
                  <a:cubicBezTo>
                    <a:pt x="39370" y="35629"/>
                    <a:pt x="31750" y="47059"/>
                    <a:pt x="25400" y="48329"/>
                  </a:cubicBezTo>
                  <a:cubicBezTo>
                    <a:pt x="19050" y="49599"/>
                    <a:pt x="0" y="36899"/>
                    <a:pt x="0" y="36899"/>
                  </a:cubicBezTo>
                </a:path>
              </a:pathLst>
            </a:custGeom>
            <a:solidFill>
              <a:srgbClr val="E7191F"/>
            </a:solidFill>
            <a:ln cap="sq">
              <a:noFill/>
              <a:prstDash val="solid"/>
              <a:miter/>
            </a:ln>
          </p:spPr>
        </p:sp>
      </p:grpSp>
      <p:grpSp>
        <p:nvGrpSpPr>
          <p:cNvPr name="Group 13" id="13"/>
          <p:cNvGrpSpPr/>
          <p:nvPr/>
        </p:nvGrpSpPr>
        <p:grpSpPr>
          <a:xfrm rot="0">
            <a:off x="7700575" y="2198566"/>
            <a:ext cx="9864113" cy="7718669"/>
            <a:chOff x="0" y="0"/>
            <a:chExt cx="13152151" cy="10291558"/>
          </a:xfrm>
        </p:grpSpPr>
        <p:sp>
          <p:nvSpPr>
            <p:cNvPr name="Freeform 14" id="14"/>
            <p:cNvSpPr/>
            <p:nvPr/>
          </p:nvSpPr>
          <p:spPr>
            <a:xfrm flipH="false" flipV="false" rot="0">
              <a:off x="0" y="0"/>
              <a:ext cx="13152151" cy="10291558"/>
            </a:xfrm>
            <a:custGeom>
              <a:avLst/>
              <a:gdLst/>
              <a:ahLst/>
              <a:cxnLst/>
              <a:rect r="r" b="b" t="t" l="l"/>
              <a:pathLst>
                <a:path h="10291558" w="13152151">
                  <a:moveTo>
                    <a:pt x="0" y="0"/>
                  </a:moveTo>
                  <a:lnTo>
                    <a:pt x="13152151" y="0"/>
                  </a:lnTo>
                  <a:lnTo>
                    <a:pt x="13152151" y="10291558"/>
                  </a:lnTo>
                  <a:lnTo>
                    <a:pt x="0" y="10291558"/>
                  </a:lnTo>
                  <a:lnTo>
                    <a:pt x="0" y="0"/>
                  </a:lnTo>
                  <a:close/>
                </a:path>
              </a:pathLst>
            </a:custGeom>
            <a:blipFill>
              <a:blip r:embed="rId5"/>
              <a:stretch>
                <a:fillRect l="0" t="0" r="0" b="0"/>
              </a:stretch>
            </a:blipFill>
          </p:spPr>
        </p:sp>
        <p:sp>
          <p:nvSpPr>
            <p:cNvPr name="Freeform 15" id="15"/>
            <p:cNvSpPr/>
            <p:nvPr/>
          </p:nvSpPr>
          <p:spPr>
            <a:xfrm flipH="false" flipV="false" rot="453635">
              <a:off x="714053" y="1740386"/>
              <a:ext cx="2459315" cy="1287787"/>
            </a:xfrm>
            <a:custGeom>
              <a:avLst/>
              <a:gdLst/>
              <a:ahLst/>
              <a:cxnLst/>
              <a:rect r="r" b="b" t="t" l="l"/>
              <a:pathLst>
                <a:path h="1287787" w="2459315">
                  <a:moveTo>
                    <a:pt x="0" y="0"/>
                  </a:moveTo>
                  <a:lnTo>
                    <a:pt x="2459315" y="0"/>
                  </a:lnTo>
                  <a:lnTo>
                    <a:pt x="2459315" y="1287787"/>
                  </a:lnTo>
                  <a:lnTo>
                    <a:pt x="0" y="12877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453635">
              <a:off x="739189" y="3211511"/>
              <a:ext cx="3294349" cy="1725041"/>
            </a:xfrm>
            <a:custGeom>
              <a:avLst/>
              <a:gdLst/>
              <a:ahLst/>
              <a:cxnLst/>
              <a:rect r="r" b="b" t="t" l="l"/>
              <a:pathLst>
                <a:path h="1725041" w="3294349">
                  <a:moveTo>
                    <a:pt x="0" y="0"/>
                  </a:moveTo>
                  <a:lnTo>
                    <a:pt x="3294349" y="0"/>
                  </a:lnTo>
                  <a:lnTo>
                    <a:pt x="3294349" y="1725040"/>
                  </a:lnTo>
                  <a:lnTo>
                    <a:pt x="0" y="17250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453635">
              <a:off x="739189" y="4800672"/>
              <a:ext cx="3294349" cy="1725041"/>
            </a:xfrm>
            <a:custGeom>
              <a:avLst/>
              <a:gdLst/>
              <a:ahLst/>
              <a:cxnLst/>
              <a:rect r="r" b="b" t="t" l="l"/>
              <a:pathLst>
                <a:path h="1725041" w="3294349">
                  <a:moveTo>
                    <a:pt x="0" y="0"/>
                  </a:moveTo>
                  <a:lnTo>
                    <a:pt x="3294349" y="0"/>
                  </a:lnTo>
                  <a:lnTo>
                    <a:pt x="3294349" y="1725041"/>
                  </a:lnTo>
                  <a:lnTo>
                    <a:pt x="0" y="17250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453635">
              <a:off x="318139" y="6507136"/>
              <a:ext cx="2580638" cy="1351316"/>
            </a:xfrm>
            <a:custGeom>
              <a:avLst/>
              <a:gdLst/>
              <a:ahLst/>
              <a:cxnLst/>
              <a:rect r="r" b="b" t="t" l="l"/>
              <a:pathLst>
                <a:path h="1351316" w="2580638">
                  <a:moveTo>
                    <a:pt x="0" y="0"/>
                  </a:moveTo>
                  <a:lnTo>
                    <a:pt x="2580637" y="0"/>
                  </a:lnTo>
                  <a:lnTo>
                    <a:pt x="2580637" y="1351316"/>
                  </a:lnTo>
                  <a:lnTo>
                    <a:pt x="0" y="13513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453635">
              <a:off x="589079" y="8155861"/>
              <a:ext cx="2580638" cy="1351316"/>
            </a:xfrm>
            <a:custGeom>
              <a:avLst/>
              <a:gdLst/>
              <a:ahLst/>
              <a:cxnLst/>
              <a:rect r="r" b="b" t="t" l="l"/>
              <a:pathLst>
                <a:path h="1351316" w="2580638">
                  <a:moveTo>
                    <a:pt x="0" y="0"/>
                  </a:moveTo>
                  <a:lnTo>
                    <a:pt x="2580637" y="0"/>
                  </a:lnTo>
                  <a:lnTo>
                    <a:pt x="2580637" y="1351315"/>
                  </a:lnTo>
                  <a:lnTo>
                    <a:pt x="0" y="13513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60120"/>
            <a:ext cx="18288000" cy="12207240"/>
          </a:xfrm>
          <a:custGeom>
            <a:avLst/>
            <a:gdLst/>
            <a:ahLst/>
            <a:cxnLst/>
            <a:rect r="r" b="b" t="t" l="l"/>
            <a:pathLst>
              <a:path h="12207240" w="18288000">
                <a:moveTo>
                  <a:pt x="0" y="0"/>
                </a:moveTo>
                <a:lnTo>
                  <a:pt x="18288000" y="0"/>
                </a:lnTo>
                <a:lnTo>
                  <a:pt x="18288000" y="12207240"/>
                </a:lnTo>
                <a:lnTo>
                  <a:pt x="0" y="12207240"/>
                </a:lnTo>
                <a:lnTo>
                  <a:pt x="0" y="0"/>
                </a:lnTo>
                <a:close/>
              </a:path>
            </a:pathLst>
          </a:custGeom>
          <a:blipFill>
            <a:blip r:embed="rId2"/>
            <a:stretch>
              <a:fillRect l="0" t="0" r="0" b="0"/>
            </a:stretch>
          </a:blipFill>
        </p:spPr>
      </p:sp>
      <p:grpSp>
        <p:nvGrpSpPr>
          <p:cNvPr name="Group 3" id="3"/>
          <p:cNvGrpSpPr/>
          <p:nvPr/>
        </p:nvGrpSpPr>
        <p:grpSpPr>
          <a:xfrm rot="0">
            <a:off x="0" y="77456"/>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283E51">
                    <a:alpha val="0"/>
                  </a:srgbClr>
                </a:gs>
                <a:gs pos="33333">
                  <a:srgbClr val="283E51">
                    <a:alpha val="46810"/>
                  </a:srgbClr>
                </a:gs>
                <a:gs pos="66667">
                  <a:srgbClr val="283E51">
                    <a:alpha val="62000"/>
                  </a:srgbClr>
                </a:gs>
                <a:gs pos="100000">
                  <a:srgbClr val="122737">
                    <a:alpha val="62000"/>
                  </a:srgbClr>
                </a:gs>
              </a:gsLst>
              <a:lin ang="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2472433" y="-1365629"/>
            <a:ext cx="6149853" cy="6149853"/>
          </a:xfrm>
          <a:custGeom>
            <a:avLst/>
            <a:gdLst/>
            <a:ahLst/>
            <a:cxnLst/>
            <a:rect r="r" b="b" t="t" l="l"/>
            <a:pathLst>
              <a:path h="6149853" w="6149853">
                <a:moveTo>
                  <a:pt x="0" y="0"/>
                </a:moveTo>
                <a:lnTo>
                  <a:pt x="6149854" y="0"/>
                </a:lnTo>
                <a:lnTo>
                  <a:pt x="6149854"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4412932" y="7418070"/>
            <a:ext cx="106680" cy="112395"/>
            <a:chOff x="0" y="0"/>
            <a:chExt cx="142240" cy="149860"/>
          </a:xfrm>
        </p:grpSpPr>
        <p:sp>
          <p:nvSpPr>
            <p:cNvPr name="Freeform 8" id="8"/>
            <p:cNvSpPr/>
            <p:nvPr/>
          </p:nvSpPr>
          <p:spPr>
            <a:xfrm flipH="false" flipV="false" rot="0">
              <a:off x="50800" y="50731"/>
              <a:ext cx="40640" cy="48419"/>
            </a:xfrm>
            <a:custGeom>
              <a:avLst/>
              <a:gdLst/>
              <a:ahLst/>
              <a:cxnLst/>
              <a:rect r="r" b="b" t="t" l="l"/>
              <a:pathLst>
                <a:path h="48419" w="40640">
                  <a:moveTo>
                    <a:pt x="0" y="19119"/>
                  </a:moveTo>
                  <a:cubicBezTo>
                    <a:pt x="31750" y="2609"/>
                    <a:pt x="38100" y="15309"/>
                    <a:pt x="38100" y="21659"/>
                  </a:cubicBezTo>
                  <a:cubicBezTo>
                    <a:pt x="38100" y="26739"/>
                    <a:pt x="33020" y="34359"/>
                    <a:pt x="27940" y="35629"/>
                  </a:cubicBezTo>
                  <a:cubicBezTo>
                    <a:pt x="21590" y="38169"/>
                    <a:pt x="1270" y="26739"/>
                    <a:pt x="0" y="21659"/>
                  </a:cubicBezTo>
                  <a:cubicBezTo>
                    <a:pt x="0" y="15309"/>
                    <a:pt x="17780" y="-1201"/>
                    <a:pt x="24130" y="69"/>
                  </a:cubicBezTo>
                  <a:cubicBezTo>
                    <a:pt x="31750" y="1339"/>
                    <a:pt x="40640" y="20389"/>
                    <a:pt x="40640" y="29279"/>
                  </a:cubicBezTo>
                  <a:cubicBezTo>
                    <a:pt x="39370" y="35629"/>
                    <a:pt x="31750" y="47059"/>
                    <a:pt x="25400" y="48329"/>
                  </a:cubicBezTo>
                  <a:cubicBezTo>
                    <a:pt x="19050" y="49599"/>
                    <a:pt x="0" y="36899"/>
                    <a:pt x="0" y="36899"/>
                  </a:cubicBezTo>
                </a:path>
              </a:pathLst>
            </a:custGeom>
            <a:solidFill>
              <a:srgbClr val="E7191F"/>
            </a:solidFill>
            <a:ln cap="sq">
              <a:noFill/>
              <a:prstDash val="solid"/>
              <a:miter/>
            </a:ln>
          </p:spPr>
        </p:sp>
      </p:grpSp>
      <p:sp>
        <p:nvSpPr>
          <p:cNvPr name="TextBox 9" id="9"/>
          <p:cNvSpPr txBox="true"/>
          <p:nvPr/>
        </p:nvSpPr>
        <p:spPr>
          <a:xfrm rot="0">
            <a:off x="1198757" y="471620"/>
            <a:ext cx="1589048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Semi-Bold"/>
                <a:ea typeface="Montserrat Semi-Bold"/>
                <a:cs typeface="Montserrat Semi-Bold"/>
                <a:sym typeface="Montserrat Semi-Bold"/>
              </a:rPr>
              <a:t>DATA SOURCE &amp; SCREEN ANALYSIS</a:t>
            </a:r>
          </a:p>
        </p:txBody>
      </p:sp>
      <p:sp>
        <p:nvSpPr>
          <p:cNvPr name="TextBox 10" id="10"/>
          <p:cNvSpPr txBox="true"/>
          <p:nvPr/>
        </p:nvSpPr>
        <p:spPr>
          <a:xfrm rot="0">
            <a:off x="230699" y="3381124"/>
            <a:ext cx="6121039" cy="4301741"/>
          </a:xfrm>
          <a:prstGeom prst="rect">
            <a:avLst/>
          </a:prstGeom>
        </p:spPr>
        <p:txBody>
          <a:bodyPr anchor="t" rtlCol="false" tIns="0" lIns="0" bIns="0" rIns="0">
            <a:spAutoFit/>
          </a:bodyPr>
          <a:lstStyle/>
          <a:p>
            <a:pPr algn="l" marL="889986" indent="-444993" lvl="1">
              <a:lnSpc>
                <a:spcPts val="5771"/>
              </a:lnSpc>
              <a:buFont typeface="Arial"/>
              <a:buChar char="•"/>
            </a:pPr>
            <a:r>
              <a:rPr lang="en-US" b="true" sz="4122">
                <a:solidFill>
                  <a:srgbClr val="FFFFFF"/>
                </a:solidFill>
                <a:latin typeface="Canva Sans Bold"/>
                <a:ea typeface="Canva Sans Bold"/>
                <a:cs typeface="Canva Sans Bold"/>
                <a:sym typeface="Canva Sans Bold"/>
              </a:rPr>
              <a:t>Scope: Identified 5 core entities (Product, Customer, Order, Shipping, Retailer)across 10 functional screens.</a:t>
            </a:r>
          </a:p>
        </p:txBody>
      </p:sp>
      <p:grpSp>
        <p:nvGrpSpPr>
          <p:cNvPr name="Group 11" id="11"/>
          <p:cNvGrpSpPr/>
          <p:nvPr/>
        </p:nvGrpSpPr>
        <p:grpSpPr>
          <a:xfrm rot="0">
            <a:off x="4565332" y="7570470"/>
            <a:ext cx="106680" cy="112395"/>
            <a:chOff x="0" y="0"/>
            <a:chExt cx="142240" cy="149860"/>
          </a:xfrm>
        </p:grpSpPr>
        <p:sp>
          <p:nvSpPr>
            <p:cNvPr name="Freeform 12" id="12"/>
            <p:cNvSpPr/>
            <p:nvPr/>
          </p:nvSpPr>
          <p:spPr>
            <a:xfrm flipH="false" flipV="false" rot="0">
              <a:off x="50800" y="50731"/>
              <a:ext cx="40640" cy="48419"/>
            </a:xfrm>
            <a:custGeom>
              <a:avLst/>
              <a:gdLst/>
              <a:ahLst/>
              <a:cxnLst/>
              <a:rect r="r" b="b" t="t" l="l"/>
              <a:pathLst>
                <a:path h="48419" w="40640">
                  <a:moveTo>
                    <a:pt x="0" y="19119"/>
                  </a:moveTo>
                  <a:cubicBezTo>
                    <a:pt x="31750" y="2609"/>
                    <a:pt x="38100" y="15309"/>
                    <a:pt x="38100" y="21659"/>
                  </a:cubicBezTo>
                  <a:cubicBezTo>
                    <a:pt x="38100" y="26739"/>
                    <a:pt x="33020" y="34359"/>
                    <a:pt x="27940" y="35629"/>
                  </a:cubicBezTo>
                  <a:cubicBezTo>
                    <a:pt x="21590" y="38169"/>
                    <a:pt x="1270" y="26739"/>
                    <a:pt x="0" y="21659"/>
                  </a:cubicBezTo>
                  <a:cubicBezTo>
                    <a:pt x="0" y="15309"/>
                    <a:pt x="17780" y="-1201"/>
                    <a:pt x="24130" y="69"/>
                  </a:cubicBezTo>
                  <a:cubicBezTo>
                    <a:pt x="31750" y="1339"/>
                    <a:pt x="40640" y="20389"/>
                    <a:pt x="40640" y="29279"/>
                  </a:cubicBezTo>
                  <a:cubicBezTo>
                    <a:pt x="39370" y="35629"/>
                    <a:pt x="31750" y="47059"/>
                    <a:pt x="25400" y="48329"/>
                  </a:cubicBezTo>
                  <a:cubicBezTo>
                    <a:pt x="19050" y="49599"/>
                    <a:pt x="0" y="36899"/>
                    <a:pt x="0" y="36899"/>
                  </a:cubicBezTo>
                </a:path>
              </a:pathLst>
            </a:custGeom>
            <a:solidFill>
              <a:srgbClr val="E7191F"/>
            </a:solidFill>
            <a:ln cap="sq">
              <a:noFill/>
              <a:prstDash val="solid"/>
              <a:miter/>
            </a:ln>
          </p:spPr>
        </p:sp>
      </p:grpSp>
      <p:grpSp>
        <p:nvGrpSpPr>
          <p:cNvPr name="Group 13" id="13"/>
          <p:cNvGrpSpPr/>
          <p:nvPr/>
        </p:nvGrpSpPr>
        <p:grpSpPr>
          <a:xfrm rot="0">
            <a:off x="7976644" y="2382970"/>
            <a:ext cx="9810749" cy="6364723"/>
            <a:chOff x="0" y="0"/>
            <a:chExt cx="13080998" cy="8486298"/>
          </a:xfrm>
        </p:grpSpPr>
        <p:sp>
          <p:nvSpPr>
            <p:cNvPr name="Freeform 14" id="14"/>
            <p:cNvSpPr/>
            <p:nvPr/>
          </p:nvSpPr>
          <p:spPr>
            <a:xfrm flipH="false" flipV="false" rot="0">
              <a:off x="0" y="0"/>
              <a:ext cx="13080998" cy="8486298"/>
            </a:xfrm>
            <a:custGeom>
              <a:avLst/>
              <a:gdLst/>
              <a:ahLst/>
              <a:cxnLst/>
              <a:rect r="r" b="b" t="t" l="l"/>
              <a:pathLst>
                <a:path h="8486298" w="13080998">
                  <a:moveTo>
                    <a:pt x="0" y="0"/>
                  </a:moveTo>
                  <a:lnTo>
                    <a:pt x="13080998" y="0"/>
                  </a:lnTo>
                  <a:lnTo>
                    <a:pt x="13080998" y="8486298"/>
                  </a:lnTo>
                  <a:lnTo>
                    <a:pt x="0" y="8486298"/>
                  </a:lnTo>
                  <a:lnTo>
                    <a:pt x="0" y="0"/>
                  </a:lnTo>
                  <a:close/>
                </a:path>
              </a:pathLst>
            </a:custGeom>
            <a:blipFill>
              <a:blip r:embed="rId5"/>
              <a:stretch>
                <a:fillRect l="0" t="0" r="0" b="0"/>
              </a:stretch>
            </a:blipFill>
          </p:spPr>
        </p:sp>
        <p:sp>
          <p:nvSpPr>
            <p:cNvPr name="Freeform 15" id="15"/>
            <p:cNvSpPr/>
            <p:nvPr/>
          </p:nvSpPr>
          <p:spPr>
            <a:xfrm flipH="false" flipV="false" rot="453635">
              <a:off x="1033364" y="1252111"/>
              <a:ext cx="5564635" cy="2913845"/>
            </a:xfrm>
            <a:custGeom>
              <a:avLst/>
              <a:gdLst/>
              <a:ahLst/>
              <a:cxnLst/>
              <a:rect r="r" b="b" t="t" l="l"/>
              <a:pathLst>
                <a:path h="2913845" w="5564635">
                  <a:moveTo>
                    <a:pt x="0" y="0"/>
                  </a:moveTo>
                  <a:lnTo>
                    <a:pt x="5564635" y="0"/>
                  </a:lnTo>
                  <a:lnTo>
                    <a:pt x="5564635" y="2913845"/>
                  </a:lnTo>
                  <a:lnTo>
                    <a:pt x="0" y="2913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453635">
              <a:off x="146205" y="4827848"/>
              <a:ext cx="4857033" cy="2543319"/>
            </a:xfrm>
            <a:custGeom>
              <a:avLst/>
              <a:gdLst/>
              <a:ahLst/>
              <a:cxnLst/>
              <a:rect r="r" b="b" t="t" l="l"/>
              <a:pathLst>
                <a:path h="2543319" w="4857033">
                  <a:moveTo>
                    <a:pt x="0" y="0"/>
                  </a:moveTo>
                  <a:lnTo>
                    <a:pt x="4857033" y="0"/>
                  </a:lnTo>
                  <a:lnTo>
                    <a:pt x="4857033" y="2543319"/>
                  </a:lnTo>
                  <a:lnTo>
                    <a:pt x="0" y="25433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60120"/>
            <a:ext cx="18288000" cy="12207240"/>
          </a:xfrm>
          <a:custGeom>
            <a:avLst/>
            <a:gdLst/>
            <a:ahLst/>
            <a:cxnLst/>
            <a:rect r="r" b="b" t="t" l="l"/>
            <a:pathLst>
              <a:path h="12207240" w="18288000">
                <a:moveTo>
                  <a:pt x="0" y="0"/>
                </a:moveTo>
                <a:lnTo>
                  <a:pt x="18288000" y="0"/>
                </a:lnTo>
                <a:lnTo>
                  <a:pt x="18288000" y="12207240"/>
                </a:lnTo>
                <a:lnTo>
                  <a:pt x="0" y="12207240"/>
                </a:lnTo>
                <a:lnTo>
                  <a:pt x="0" y="0"/>
                </a:lnTo>
                <a:close/>
              </a:path>
            </a:pathLst>
          </a:custGeom>
          <a:blipFill>
            <a:blip r:embed="rId2"/>
            <a:stretch>
              <a:fillRect l="0" t="0" r="0" b="0"/>
            </a:stretch>
          </a:blipFill>
        </p:spPr>
      </p:sp>
      <p:grpSp>
        <p:nvGrpSpPr>
          <p:cNvPr name="Group 3" id="3"/>
          <p:cNvGrpSpPr/>
          <p:nvPr/>
        </p:nvGrpSpPr>
        <p:grpSpPr>
          <a:xfrm rot="0">
            <a:off x="0" y="77456"/>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283E51">
                    <a:alpha val="0"/>
                  </a:srgbClr>
                </a:gs>
                <a:gs pos="33333">
                  <a:srgbClr val="283E51">
                    <a:alpha val="46810"/>
                  </a:srgbClr>
                </a:gs>
                <a:gs pos="66667">
                  <a:srgbClr val="283E51">
                    <a:alpha val="62000"/>
                  </a:srgbClr>
                </a:gs>
                <a:gs pos="100000">
                  <a:srgbClr val="122737">
                    <a:alpha val="62000"/>
                  </a:srgbClr>
                </a:gs>
              </a:gsLst>
              <a:lin ang="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2472433" y="-1365629"/>
            <a:ext cx="6149853" cy="6149853"/>
          </a:xfrm>
          <a:custGeom>
            <a:avLst/>
            <a:gdLst/>
            <a:ahLst/>
            <a:cxnLst/>
            <a:rect r="r" b="b" t="t" l="l"/>
            <a:pathLst>
              <a:path h="6149853" w="6149853">
                <a:moveTo>
                  <a:pt x="0" y="0"/>
                </a:moveTo>
                <a:lnTo>
                  <a:pt x="6149854" y="0"/>
                </a:lnTo>
                <a:lnTo>
                  <a:pt x="6149854"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4412932" y="7418070"/>
            <a:ext cx="106680" cy="112395"/>
            <a:chOff x="0" y="0"/>
            <a:chExt cx="142240" cy="149860"/>
          </a:xfrm>
        </p:grpSpPr>
        <p:sp>
          <p:nvSpPr>
            <p:cNvPr name="Freeform 8" id="8"/>
            <p:cNvSpPr/>
            <p:nvPr/>
          </p:nvSpPr>
          <p:spPr>
            <a:xfrm flipH="false" flipV="false" rot="0">
              <a:off x="50800" y="50731"/>
              <a:ext cx="40640" cy="48419"/>
            </a:xfrm>
            <a:custGeom>
              <a:avLst/>
              <a:gdLst/>
              <a:ahLst/>
              <a:cxnLst/>
              <a:rect r="r" b="b" t="t" l="l"/>
              <a:pathLst>
                <a:path h="48419" w="40640">
                  <a:moveTo>
                    <a:pt x="0" y="19119"/>
                  </a:moveTo>
                  <a:cubicBezTo>
                    <a:pt x="31750" y="2609"/>
                    <a:pt x="38100" y="15309"/>
                    <a:pt x="38100" y="21659"/>
                  </a:cubicBezTo>
                  <a:cubicBezTo>
                    <a:pt x="38100" y="26739"/>
                    <a:pt x="33020" y="34359"/>
                    <a:pt x="27940" y="35629"/>
                  </a:cubicBezTo>
                  <a:cubicBezTo>
                    <a:pt x="21590" y="38169"/>
                    <a:pt x="1270" y="26739"/>
                    <a:pt x="0" y="21659"/>
                  </a:cubicBezTo>
                  <a:cubicBezTo>
                    <a:pt x="0" y="15309"/>
                    <a:pt x="17780" y="-1201"/>
                    <a:pt x="24130" y="69"/>
                  </a:cubicBezTo>
                  <a:cubicBezTo>
                    <a:pt x="31750" y="1339"/>
                    <a:pt x="40640" y="20389"/>
                    <a:pt x="40640" y="29279"/>
                  </a:cubicBezTo>
                  <a:cubicBezTo>
                    <a:pt x="39370" y="35629"/>
                    <a:pt x="31750" y="47059"/>
                    <a:pt x="25400" y="48329"/>
                  </a:cubicBezTo>
                  <a:cubicBezTo>
                    <a:pt x="19050" y="49599"/>
                    <a:pt x="0" y="36899"/>
                    <a:pt x="0" y="36899"/>
                  </a:cubicBezTo>
                </a:path>
              </a:pathLst>
            </a:custGeom>
            <a:solidFill>
              <a:srgbClr val="E7191F"/>
            </a:solidFill>
            <a:ln cap="sq">
              <a:noFill/>
              <a:prstDash val="solid"/>
              <a:miter/>
            </a:ln>
          </p:spPr>
        </p:sp>
      </p:grpSp>
      <p:sp>
        <p:nvSpPr>
          <p:cNvPr name="TextBox 9" id="9"/>
          <p:cNvSpPr txBox="true"/>
          <p:nvPr/>
        </p:nvSpPr>
        <p:spPr>
          <a:xfrm rot="0">
            <a:off x="1198757" y="471620"/>
            <a:ext cx="1589048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Semi-Bold"/>
                <a:ea typeface="Montserrat Semi-Bold"/>
                <a:cs typeface="Montserrat Semi-Bold"/>
                <a:sym typeface="Montserrat Semi-Bold"/>
              </a:rPr>
              <a:t>DATA SOURCE &amp; SCREEN ANALYSIS</a:t>
            </a:r>
          </a:p>
        </p:txBody>
      </p:sp>
      <p:sp>
        <p:nvSpPr>
          <p:cNvPr name="TextBox 10" id="10"/>
          <p:cNvSpPr txBox="true"/>
          <p:nvPr/>
        </p:nvSpPr>
        <p:spPr>
          <a:xfrm rot="0">
            <a:off x="230699" y="3381124"/>
            <a:ext cx="6121039" cy="4301741"/>
          </a:xfrm>
          <a:prstGeom prst="rect">
            <a:avLst/>
          </a:prstGeom>
        </p:spPr>
        <p:txBody>
          <a:bodyPr anchor="t" rtlCol="false" tIns="0" lIns="0" bIns="0" rIns="0">
            <a:spAutoFit/>
          </a:bodyPr>
          <a:lstStyle/>
          <a:p>
            <a:pPr algn="l" marL="889986" indent="-444993" lvl="1">
              <a:lnSpc>
                <a:spcPts val="5771"/>
              </a:lnSpc>
              <a:buFont typeface="Arial"/>
              <a:buChar char="•"/>
            </a:pPr>
            <a:r>
              <a:rPr lang="en-US" b="true" sz="4122">
                <a:solidFill>
                  <a:srgbClr val="FFFFFF"/>
                </a:solidFill>
                <a:latin typeface="Canva Sans Bold"/>
                <a:ea typeface="Canva Sans Bold"/>
                <a:cs typeface="Canva Sans Bold"/>
                <a:sym typeface="Canva Sans Bold"/>
              </a:rPr>
              <a:t>Scope: Identified 5 core entities (Product, Customer, Order, Shipping, Retailer)across 10 functional screens.</a:t>
            </a:r>
          </a:p>
        </p:txBody>
      </p:sp>
      <p:grpSp>
        <p:nvGrpSpPr>
          <p:cNvPr name="Group 11" id="11"/>
          <p:cNvGrpSpPr/>
          <p:nvPr/>
        </p:nvGrpSpPr>
        <p:grpSpPr>
          <a:xfrm rot="0">
            <a:off x="4565332" y="7570470"/>
            <a:ext cx="106680" cy="112395"/>
            <a:chOff x="0" y="0"/>
            <a:chExt cx="142240" cy="149860"/>
          </a:xfrm>
        </p:grpSpPr>
        <p:sp>
          <p:nvSpPr>
            <p:cNvPr name="Freeform 12" id="12"/>
            <p:cNvSpPr/>
            <p:nvPr/>
          </p:nvSpPr>
          <p:spPr>
            <a:xfrm flipH="false" flipV="false" rot="0">
              <a:off x="50800" y="50731"/>
              <a:ext cx="40640" cy="48419"/>
            </a:xfrm>
            <a:custGeom>
              <a:avLst/>
              <a:gdLst/>
              <a:ahLst/>
              <a:cxnLst/>
              <a:rect r="r" b="b" t="t" l="l"/>
              <a:pathLst>
                <a:path h="48419" w="40640">
                  <a:moveTo>
                    <a:pt x="0" y="19119"/>
                  </a:moveTo>
                  <a:cubicBezTo>
                    <a:pt x="31750" y="2609"/>
                    <a:pt x="38100" y="15309"/>
                    <a:pt x="38100" y="21659"/>
                  </a:cubicBezTo>
                  <a:cubicBezTo>
                    <a:pt x="38100" y="26739"/>
                    <a:pt x="33020" y="34359"/>
                    <a:pt x="27940" y="35629"/>
                  </a:cubicBezTo>
                  <a:cubicBezTo>
                    <a:pt x="21590" y="38169"/>
                    <a:pt x="1270" y="26739"/>
                    <a:pt x="0" y="21659"/>
                  </a:cubicBezTo>
                  <a:cubicBezTo>
                    <a:pt x="0" y="15309"/>
                    <a:pt x="17780" y="-1201"/>
                    <a:pt x="24130" y="69"/>
                  </a:cubicBezTo>
                  <a:cubicBezTo>
                    <a:pt x="31750" y="1339"/>
                    <a:pt x="40640" y="20389"/>
                    <a:pt x="40640" y="29279"/>
                  </a:cubicBezTo>
                  <a:cubicBezTo>
                    <a:pt x="39370" y="35629"/>
                    <a:pt x="31750" y="47059"/>
                    <a:pt x="25400" y="48329"/>
                  </a:cubicBezTo>
                  <a:cubicBezTo>
                    <a:pt x="19050" y="49599"/>
                    <a:pt x="0" y="36899"/>
                    <a:pt x="0" y="36899"/>
                  </a:cubicBezTo>
                </a:path>
              </a:pathLst>
            </a:custGeom>
            <a:solidFill>
              <a:srgbClr val="E7191F"/>
            </a:solidFill>
            <a:ln cap="sq">
              <a:noFill/>
              <a:prstDash val="solid"/>
              <a:miter/>
            </a:ln>
          </p:spPr>
        </p:sp>
      </p:grpSp>
      <p:sp>
        <p:nvSpPr>
          <p:cNvPr name="Freeform 13" id="13"/>
          <p:cNvSpPr/>
          <p:nvPr/>
        </p:nvSpPr>
        <p:spPr>
          <a:xfrm flipH="false" flipV="false" rot="0">
            <a:off x="6917215" y="3830901"/>
            <a:ext cx="10639705" cy="3468862"/>
          </a:xfrm>
          <a:custGeom>
            <a:avLst/>
            <a:gdLst/>
            <a:ahLst/>
            <a:cxnLst/>
            <a:rect r="r" b="b" t="t" l="l"/>
            <a:pathLst>
              <a:path h="3468862" w="10639705">
                <a:moveTo>
                  <a:pt x="0" y="0"/>
                </a:moveTo>
                <a:lnTo>
                  <a:pt x="10639704" y="0"/>
                </a:lnTo>
                <a:lnTo>
                  <a:pt x="10639704" y="3468862"/>
                </a:lnTo>
                <a:lnTo>
                  <a:pt x="0" y="3468862"/>
                </a:lnTo>
                <a:lnTo>
                  <a:pt x="0" y="0"/>
                </a:lnTo>
                <a:close/>
              </a:path>
            </a:pathLst>
          </a:custGeom>
          <a:blipFill>
            <a:blip r:embed="rId5"/>
            <a:stretch>
              <a:fillRect l="0" t="0" r="-24201" b="0"/>
            </a:stretch>
          </a:blipFill>
        </p:spPr>
      </p:sp>
      <p:sp>
        <p:nvSpPr>
          <p:cNvPr name="Freeform 14" id="14"/>
          <p:cNvSpPr/>
          <p:nvPr/>
        </p:nvSpPr>
        <p:spPr>
          <a:xfrm flipH="false" flipV="false" rot="0">
            <a:off x="8223080" y="5565332"/>
            <a:ext cx="7446245" cy="191308"/>
          </a:xfrm>
          <a:custGeom>
            <a:avLst/>
            <a:gdLst/>
            <a:ahLst/>
            <a:cxnLst/>
            <a:rect r="r" b="b" t="t" l="l"/>
            <a:pathLst>
              <a:path h="191308" w="7446245">
                <a:moveTo>
                  <a:pt x="0" y="0"/>
                </a:moveTo>
                <a:lnTo>
                  <a:pt x="7446244" y="0"/>
                </a:lnTo>
                <a:lnTo>
                  <a:pt x="7446244" y="191308"/>
                </a:lnTo>
                <a:lnTo>
                  <a:pt x="0" y="1913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8223080" y="6807991"/>
            <a:ext cx="7446245" cy="191308"/>
          </a:xfrm>
          <a:custGeom>
            <a:avLst/>
            <a:gdLst/>
            <a:ahLst/>
            <a:cxnLst/>
            <a:rect r="r" b="b" t="t" l="l"/>
            <a:pathLst>
              <a:path h="191308" w="7446245">
                <a:moveTo>
                  <a:pt x="0" y="0"/>
                </a:moveTo>
                <a:lnTo>
                  <a:pt x="7446244" y="0"/>
                </a:lnTo>
                <a:lnTo>
                  <a:pt x="7446244" y="191308"/>
                </a:lnTo>
                <a:lnTo>
                  <a:pt x="0" y="1913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60120"/>
            <a:ext cx="18288000" cy="12207240"/>
          </a:xfrm>
          <a:custGeom>
            <a:avLst/>
            <a:gdLst/>
            <a:ahLst/>
            <a:cxnLst/>
            <a:rect r="r" b="b" t="t" l="l"/>
            <a:pathLst>
              <a:path h="12207240" w="18288000">
                <a:moveTo>
                  <a:pt x="0" y="0"/>
                </a:moveTo>
                <a:lnTo>
                  <a:pt x="18288000" y="0"/>
                </a:lnTo>
                <a:lnTo>
                  <a:pt x="18288000" y="12207240"/>
                </a:lnTo>
                <a:lnTo>
                  <a:pt x="0" y="12207240"/>
                </a:lnTo>
                <a:lnTo>
                  <a:pt x="0" y="0"/>
                </a:lnTo>
                <a:close/>
              </a:path>
            </a:pathLst>
          </a:custGeom>
          <a:blipFill>
            <a:blip r:embed="rId2"/>
            <a:stretch>
              <a:fillRect l="0" t="0" r="0" b="0"/>
            </a:stretch>
          </a:blipFill>
        </p:spPr>
      </p:sp>
      <p:grpSp>
        <p:nvGrpSpPr>
          <p:cNvPr name="Group 3" id="3"/>
          <p:cNvGrpSpPr/>
          <p:nvPr/>
        </p:nvGrpSpPr>
        <p:grpSpPr>
          <a:xfrm rot="0">
            <a:off x="0" y="77456"/>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283E51">
                    <a:alpha val="0"/>
                  </a:srgbClr>
                </a:gs>
                <a:gs pos="33333">
                  <a:srgbClr val="283E51">
                    <a:alpha val="46810"/>
                  </a:srgbClr>
                </a:gs>
                <a:gs pos="66667">
                  <a:srgbClr val="283E51">
                    <a:alpha val="62000"/>
                  </a:srgbClr>
                </a:gs>
                <a:gs pos="100000">
                  <a:srgbClr val="122737">
                    <a:alpha val="62000"/>
                  </a:srgbClr>
                </a:gs>
              </a:gsLst>
              <a:lin ang="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2472433" y="-1365629"/>
            <a:ext cx="6149853" cy="6149853"/>
          </a:xfrm>
          <a:custGeom>
            <a:avLst/>
            <a:gdLst/>
            <a:ahLst/>
            <a:cxnLst/>
            <a:rect r="r" b="b" t="t" l="l"/>
            <a:pathLst>
              <a:path h="6149853" w="6149853">
                <a:moveTo>
                  <a:pt x="0" y="0"/>
                </a:moveTo>
                <a:lnTo>
                  <a:pt x="6149854" y="0"/>
                </a:lnTo>
                <a:lnTo>
                  <a:pt x="6149854"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4412932" y="7418070"/>
            <a:ext cx="106680" cy="112395"/>
            <a:chOff x="0" y="0"/>
            <a:chExt cx="142240" cy="149860"/>
          </a:xfrm>
        </p:grpSpPr>
        <p:sp>
          <p:nvSpPr>
            <p:cNvPr name="Freeform 8" id="8"/>
            <p:cNvSpPr/>
            <p:nvPr/>
          </p:nvSpPr>
          <p:spPr>
            <a:xfrm flipH="false" flipV="false" rot="0">
              <a:off x="50800" y="50731"/>
              <a:ext cx="40640" cy="48419"/>
            </a:xfrm>
            <a:custGeom>
              <a:avLst/>
              <a:gdLst/>
              <a:ahLst/>
              <a:cxnLst/>
              <a:rect r="r" b="b" t="t" l="l"/>
              <a:pathLst>
                <a:path h="48419" w="40640">
                  <a:moveTo>
                    <a:pt x="0" y="19119"/>
                  </a:moveTo>
                  <a:cubicBezTo>
                    <a:pt x="31750" y="2609"/>
                    <a:pt x="38100" y="15309"/>
                    <a:pt x="38100" y="21659"/>
                  </a:cubicBezTo>
                  <a:cubicBezTo>
                    <a:pt x="38100" y="26739"/>
                    <a:pt x="33020" y="34359"/>
                    <a:pt x="27940" y="35629"/>
                  </a:cubicBezTo>
                  <a:cubicBezTo>
                    <a:pt x="21590" y="38169"/>
                    <a:pt x="1270" y="26739"/>
                    <a:pt x="0" y="21659"/>
                  </a:cubicBezTo>
                  <a:cubicBezTo>
                    <a:pt x="0" y="15309"/>
                    <a:pt x="17780" y="-1201"/>
                    <a:pt x="24130" y="69"/>
                  </a:cubicBezTo>
                  <a:cubicBezTo>
                    <a:pt x="31750" y="1339"/>
                    <a:pt x="40640" y="20389"/>
                    <a:pt x="40640" y="29279"/>
                  </a:cubicBezTo>
                  <a:cubicBezTo>
                    <a:pt x="39370" y="35629"/>
                    <a:pt x="31750" y="47059"/>
                    <a:pt x="25400" y="48329"/>
                  </a:cubicBezTo>
                  <a:cubicBezTo>
                    <a:pt x="19050" y="49599"/>
                    <a:pt x="0" y="36899"/>
                    <a:pt x="0" y="36899"/>
                  </a:cubicBezTo>
                </a:path>
              </a:pathLst>
            </a:custGeom>
            <a:solidFill>
              <a:srgbClr val="E7191F"/>
            </a:solidFill>
            <a:ln cap="sq">
              <a:noFill/>
              <a:prstDash val="solid"/>
              <a:miter/>
            </a:ln>
          </p:spPr>
        </p:sp>
      </p:grpSp>
      <p:sp>
        <p:nvSpPr>
          <p:cNvPr name="TextBox 9" id="9"/>
          <p:cNvSpPr txBox="true"/>
          <p:nvPr/>
        </p:nvSpPr>
        <p:spPr>
          <a:xfrm rot="0">
            <a:off x="230699" y="3381124"/>
            <a:ext cx="6121039" cy="4301741"/>
          </a:xfrm>
          <a:prstGeom prst="rect">
            <a:avLst/>
          </a:prstGeom>
        </p:spPr>
        <p:txBody>
          <a:bodyPr anchor="t" rtlCol="false" tIns="0" lIns="0" bIns="0" rIns="0">
            <a:spAutoFit/>
          </a:bodyPr>
          <a:lstStyle/>
          <a:p>
            <a:pPr algn="l" marL="889986" indent="-444993" lvl="1">
              <a:lnSpc>
                <a:spcPts val="5771"/>
              </a:lnSpc>
              <a:buFont typeface="Arial"/>
              <a:buChar char="•"/>
            </a:pPr>
            <a:r>
              <a:rPr lang="en-US" b="true" sz="4122">
                <a:solidFill>
                  <a:srgbClr val="FFFFFF"/>
                </a:solidFill>
                <a:latin typeface="Canva Sans Bold"/>
                <a:ea typeface="Canva Sans Bold"/>
                <a:cs typeface="Canva Sans Bold"/>
                <a:sym typeface="Canva Sans Bold"/>
              </a:rPr>
              <a:t>Scope: Identified 5 core entities (Product, Customer, Order, Shipping, Retailer)across 10 functional screens.</a:t>
            </a:r>
          </a:p>
        </p:txBody>
      </p:sp>
      <p:grpSp>
        <p:nvGrpSpPr>
          <p:cNvPr name="Group 10" id="10"/>
          <p:cNvGrpSpPr/>
          <p:nvPr/>
        </p:nvGrpSpPr>
        <p:grpSpPr>
          <a:xfrm rot="0">
            <a:off x="4565332" y="7570470"/>
            <a:ext cx="106680" cy="112395"/>
            <a:chOff x="0" y="0"/>
            <a:chExt cx="142240" cy="149860"/>
          </a:xfrm>
        </p:grpSpPr>
        <p:sp>
          <p:nvSpPr>
            <p:cNvPr name="Freeform 11" id="11"/>
            <p:cNvSpPr/>
            <p:nvPr/>
          </p:nvSpPr>
          <p:spPr>
            <a:xfrm flipH="false" flipV="false" rot="0">
              <a:off x="50800" y="50731"/>
              <a:ext cx="40640" cy="48419"/>
            </a:xfrm>
            <a:custGeom>
              <a:avLst/>
              <a:gdLst/>
              <a:ahLst/>
              <a:cxnLst/>
              <a:rect r="r" b="b" t="t" l="l"/>
              <a:pathLst>
                <a:path h="48419" w="40640">
                  <a:moveTo>
                    <a:pt x="0" y="19119"/>
                  </a:moveTo>
                  <a:cubicBezTo>
                    <a:pt x="31750" y="2609"/>
                    <a:pt x="38100" y="15309"/>
                    <a:pt x="38100" y="21659"/>
                  </a:cubicBezTo>
                  <a:cubicBezTo>
                    <a:pt x="38100" y="26739"/>
                    <a:pt x="33020" y="34359"/>
                    <a:pt x="27940" y="35629"/>
                  </a:cubicBezTo>
                  <a:cubicBezTo>
                    <a:pt x="21590" y="38169"/>
                    <a:pt x="1270" y="26739"/>
                    <a:pt x="0" y="21659"/>
                  </a:cubicBezTo>
                  <a:cubicBezTo>
                    <a:pt x="0" y="15309"/>
                    <a:pt x="17780" y="-1201"/>
                    <a:pt x="24130" y="69"/>
                  </a:cubicBezTo>
                  <a:cubicBezTo>
                    <a:pt x="31750" y="1339"/>
                    <a:pt x="40640" y="20389"/>
                    <a:pt x="40640" y="29279"/>
                  </a:cubicBezTo>
                  <a:cubicBezTo>
                    <a:pt x="39370" y="35629"/>
                    <a:pt x="31750" y="47059"/>
                    <a:pt x="25400" y="48329"/>
                  </a:cubicBezTo>
                  <a:cubicBezTo>
                    <a:pt x="19050" y="49599"/>
                    <a:pt x="0" y="36899"/>
                    <a:pt x="0" y="36899"/>
                  </a:cubicBezTo>
                </a:path>
              </a:pathLst>
            </a:custGeom>
            <a:solidFill>
              <a:srgbClr val="E7191F"/>
            </a:solidFill>
            <a:ln cap="sq">
              <a:noFill/>
              <a:prstDash val="solid"/>
              <a:miter/>
            </a:ln>
          </p:spPr>
        </p:sp>
      </p:grpSp>
      <p:sp>
        <p:nvSpPr>
          <p:cNvPr name="Freeform 12" id="12"/>
          <p:cNvSpPr/>
          <p:nvPr/>
        </p:nvSpPr>
        <p:spPr>
          <a:xfrm flipH="false" flipV="false" rot="0">
            <a:off x="6982242" y="2432785"/>
            <a:ext cx="10770044" cy="6825515"/>
          </a:xfrm>
          <a:custGeom>
            <a:avLst/>
            <a:gdLst/>
            <a:ahLst/>
            <a:cxnLst/>
            <a:rect r="r" b="b" t="t" l="l"/>
            <a:pathLst>
              <a:path h="6825515" w="10770044">
                <a:moveTo>
                  <a:pt x="0" y="0"/>
                </a:moveTo>
                <a:lnTo>
                  <a:pt x="10770044" y="0"/>
                </a:lnTo>
                <a:lnTo>
                  <a:pt x="10770044" y="6825515"/>
                </a:lnTo>
                <a:lnTo>
                  <a:pt x="0" y="6825515"/>
                </a:lnTo>
                <a:lnTo>
                  <a:pt x="0" y="0"/>
                </a:lnTo>
                <a:close/>
              </a:path>
            </a:pathLst>
          </a:custGeom>
          <a:blipFill>
            <a:blip r:embed="rId5"/>
            <a:stretch>
              <a:fillRect l="0" t="0" r="0" b="0"/>
            </a:stretch>
          </a:blipFill>
        </p:spPr>
      </p:sp>
      <p:sp>
        <p:nvSpPr>
          <p:cNvPr name="Freeform 13" id="13"/>
          <p:cNvSpPr/>
          <p:nvPr/>
        </p:nvSpPr>
        <p:spPr>
          <a:xfrm flipH="false" flipV="false" rot="453635">
            <a:off x="11411648" y="3363700"/>
            <a:ext cx="1911232" cy="1000790"/>
          </a:xfrm>
          <a:custGeom>
            <a:avLst/>
            <a:gdLst/>
            <a:ahLst/>
            <a:cxnLst/>
            <a:rect r="r" b="b" t="t" l="l"/>
            <a:pathLst>
              <a:path h="1000790" w="1911232">
                <a:moveTo>
                  <a:pt x="0" y="0"/>
                </a:moveTo>
                <a:lnTo>
                  <a:pt x="1911231" y="0"/>
                </a:lnTo>
                <a:lnTo>
                  <a:pt x="1911231" y="1000790"/>
                </a:lnTo>
                <a:lnTo>
                  <a:pt x="0" y="10007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198757" y="471620"/>
            <a:ext cx="1589048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Semi-Bold"/>
                <a:ea typeface="Montserrat Semi-Bold"/>
                <a:cs typeface="Montserrat Semi-Bold"/>
                <a:sym typeface="Montserrat Semi-Bold"/>
              </a:rPr>
              <a:t>DATA SOURCE &amp; SCREEN ANALYSIS</a:t>
            </a:r>
          </a:p>
        </p:txBody>
      </p:sp>
      <p:sp>
        <p:nvSpPr>
          <p:cNvPr name="Freeform 15" id="15"/>
          <p:cNvSpPr/>
          <p:nvPr/>
        </p:nvSpPr>
        <p:spPr>
          <a:xfrm flipH="false" flipV="false" rot="453635">
            <a:off x="7039773" y="3363700"/>
            <a:ext cx="1911232" cy="1000790"/>
          </a:xfrm>
          <a:custGeom>
            <a:avLst/>
            <a:gdLst/>
            <a:ahLst/>
            <a:cxnLst/>
            <a:rect r="r" b="b" t="t" l="l"/>
            <a:pathLst>
              <a:path h="1000790" w="1911232">
                <a:moveTo>
                  <a:pt x="0" y="0"/>
                </a:moveTo>
                <a:lnTo>
                  <a:pt x="1911232" y="0"/>
                </a:lnTo>
                <a:lnTo>
                  <a:pt x="1911232" y="1000790"/>
                </a:lnTo>
                <a:lnTo>
                  <a:pt x="0" y="10007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453635">
            <a:off x="7039773" y="4643105"/>
            <a:ext cx="1911232" cy="1000790"/>
          </a:xfrm>
          <a:custGeom>
            <a:avLst/>
            <a:gdLst/>
            <a:ahLst/>
            <a:cxnLst/>
            <a:rect r="r" b="b" t="t" l="l"/>
            <a:pathLst>
              <a:path h="1000790" w="1911232">
                <a:moveTo>
                  <a:pt x="0" y="0"/>
                </a:moveTo>
                <a:lnTo>
                  <a:pt x="1911232" y="0"/>
                </a:lnTo>
                <a:lnTo>
                  <a:pt x="1911232" y="1000790"/>
                </a:lnTo>
                <a:lnTo>
                  <a:pt x="0" y="10007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453635">
            <a:off x="7039773" y="5886664"/>
            <a:ext cx="1911232" cy="1000790"/>
          </a:xfrm>
          <a:custGeom>
            <a:avLst/>
            <a:gdLst/>
            <a:ahLst/>
            <a:cxnLst/>
            <a:rect r="r" b="b" t="t" l="l"/>
            <a:pathLst>
              <a:path h="1000790" w="1911232">
                <a:moveTo>
                  <a:pt x="0" y="0"/>
                </a:moveTo>
                <a:lnTo>
                  <a:pt x="1911232" y="0"/>
                </a:lnTo>
                <a:lnTo>
                  <a:pt x="1911232" y="1000790"/>
                </a:lnTo>
                <a:lnTo>
                  <a:pt x="0" y="10007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453635">
            <a:off x="7175237" y="6917675"/>
            <a:ext cx="1911232" cy="1000790"/>
          </a:xfrm>
          <a:custGeom>
            <a:avLst/>
            <a:gdLst/>
            <a:ahLst/>
            <a:cxnLst/>
            <a:rect r="r" b="b" t="t" l="l"/>
            <a:pathLst>
              <a:path h="1000790" w="1911232">
                <a:moveTo>
                  <a:pt x="0" y="0"/>
                </a:moveTo>
                <a:lnTo>
                  <a:pt x="1911232" y="0"/>
                </a:lnTo>
                <a:lnTo>
                  <a:pt x="1911232" y="1000790"/>
                </a:lnTo>
                <a:lnTo>
                  <a:pt x="0" y="10007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453635">
            <a:off x="7175237" y="8136125"/>
            <a:ext cx="1911232" cy="1000790"/>
          </a:xfrm>
          <a:custGeom>
            <a:avLst/>
            <a:gdLst/>
            <a:ahLst/>
            <a:cxnLst/>
            <a:rect r="r" b="b" t="t" l="l"/>
            <a:pathLst>
              <a:path h="1000790" w="1911232">
                <a:moveTo>
                  <a:pt x="0" y="0"/>
                </a:moveTo>
                <a:lnTo>
                  <a:pt x="1911232" y="0"/>
                </a:lnTo>
                <a:lnTo>
                  <a:pt x="1911232" y="1000791"/>
                </a:lnTo>
                <a:lnTo>
                  <a:pt x="0" y="10007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453635">
            <a:off x="11411648" y="4643105"/>
            <a:ext cx="1911232" cy="1000790"/>
          </a:xfrm>
          <a:custGeom>
            <a:avLst/>
            <a:gdLst/>
            <a:ahLst/>
            <a:cxnLst/>
            <a:rect r="r" b="b" t="t" l="l"/>
            <a:pathLst>
              <a:path h="1000790" w="1911232">
                <a:moveTo>
                  <a:pt x="0" y="0"/>
                </a:moveTo>
                <a:lnTo>
                  <a:pt x="1911231" y="0"/>
                </a:lnTo>
                <a:lnTo>
                  <a:pt x="1911231" y="1000790"/>
                </a:lnTo>
                <a:lnTo>
                  <a:pt x="0" y="10007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453635">
            <a:off x="11411648" y="5686716"/>
            <a:ext cx="1911232" cy="1000790"/>
          </a:xfrm>
          <a:custGeom>
            <a:avLst/>
            <a:gdLst/>
            <a:ahLst/>
            <a:cxnLst/>
            <a:rect r="r" b="b" t="t" l="l"/>
            <a:pathLst>
              <a:path h="1000790" w="1911232">
                <a:moveTo>
                  <a:pt x="0" y="0"/>
                </a:moveTo>
                <a:lnTo>
                  <a:pt x="1911231" y="0"/>
                </a:lnTo>
                <a:lnTo>
                  <a:pt x="1911231" y="1000791"/>
                </a:lnTo>
                <a:lnTo>
                  <a:pt x="0" y="10007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453635">
            <a:off x="11516106" y="6930275"/>
            <a:ext cx="1911232" cy="1000790"/>
          </a:xfrm>
          <a:custGeom>
            <a:avLst/>
            <a:gdLst/>
            <a:ahLst/>
            <a:cxnLst/>
            <a:rect r="r" b="b" t="t" l="l"/>
            <a:pathLst>
              <a:path h="1000790" w="1911232">
                <a:moveTo>
                  <a:pt x="0" y="0"/>
                </a:moveTo>
                <a:lnTo>
                  <a:pt x="1911232" y="0"/>
                </a:lnTo>
                <a:lnTo>
                  <a:pt x="1911232" y="1000791"/>
                </a:lnTo>
                <a:lnTo>
                  <a:pt x="0" y="10007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453635">
            <a:off x="11516106" y="8211935"/>
            <a:ext cx="1911232" cy="1000790"/>
          </a:xfrm>
          <a:custGeom>
            <a:avLst/>
            <a:gdLst/>
            <a:ahLst/>
            <a:cxnLst/>
            <a:rect r="r" b="b" t="t" l="l"/>
            <a:pathLst>
              <a:path h="1000790" w="1911232">
                <a:moveTo>
                  <a:pt x="0" y="0"/>
                </a:moveTo>
                <a:lnTo>
                  <a:pt x="1911232" y="0"/>
                </a:lnTo>
                <a:lnTo>
                  <a:pt x="1911232" y="1000790"/>
                </a:lnTo>
                <a:lnTo>
                  <a:pt x="0" y="10007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700000">
            <a:off x="2457256" y="-750682"/>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0" y="-2080310"/>
            <a:ext cx="18288000" cy="12207240"/>
          </a:xfrm>
          <a:custGeom>
            <a:avLst/>
            <a:gdLst/>
            <a:ahLst/>
            <a:cxnLst/>
            <a:rect r="r" b="b" t="t" l="l"/>
            <a:pathLst>
              <a:path h="12207240" w="18288000">
                <a:moveTo>
                  <a:pt x="0" y="0"/>
                </a:moveTo>
                <a:lnTo>
                  <a:pt x="18288000" y="0"/>
                </a:lnTo>
                <a:lnTo>
                  <a:pt x="18288000" y="12207240"/>
                </a:lnTo>
                <a:lnTo>
                  <a:pt x="0" y="12207240"/>
                </a:lnTo>
                <a:lnTo>
                  <a:pt x="0" y="0"/>
                </a:lnTo>
                <a:close/>
              </a:path>
            </a:pathLst>
          </a:custGeom>
          <a:blipFill>
            <a:blip r:embed="rId5"/>
            <a:stretch>
              <a:fillRect l="0" t="0" r="0" b="0"/>
            </a:stretch>
          </a:blipFill>
        </p:spPr>
      </p:sp>
      <p:grpSp>
        <p:nvGrpSpPr>
          <p:cNvPr name="Group 4" id="4"/>
          <p:cNvGrpSpPr/>
          <p:nvPr/>
        </p:nvGrpSpPr>
        <p:grpSpPr>
          <a:xfrm rot="0">
            <a:off x="-12105142" y="-3092215"/>
            <a:ext cx="31001733" cy="15790143"/>
            <a:chOff x="0" y="0"/>
            <a:chExt cx="8165066" cy="4158721"/>
          </a:xfrm>
        </p:grpSpPr>
        <p:sp>
          <p:nvSpPr>
            <p:cNvPr name="Freeform 5" id="5"/>
            <p:cNvSpPr/>
            <p:nvPr/>
          </p:nvSpPr>
          <p:spPr>
            <a:xfrm flipH="false" flipV="false" rot="0">
              <a:off x="0" y="0"/>
              <a:ext cx="8165065" cy="4158721"/>
            </a:xfrm>
            <a:custGeom>
              <a:avLst/>
              <a:gdLst/>
              <a:ahLst/>
              <a:cxnLst/>
              <a:rect r="r" b="b" t="t" l="l"/>
              <a:pathLst>
                <a:path h="4158721" w="8165065">
                  <a:moveTo>
                    <a:pt x="0" y="0"/>
                  </a:moveTo>
                  <a:lnTo>
                    <a:pt x="8165065" y="0"/>
                  </a:lnTo>
                  <a:lnTo>
                    <a:pt x="8165065" y="4158721"/>
                  </a:lnTo>
                  <a:lnTo>
                    <a:pt x="0" y="4158721"/>
                  </a:lnTo>
                  <a:close/>
                </a:path>
              </a:pathLst>
            </a:custGeom>
            <a:gradFill rotWithShape="true">
              <a:gsLst>
                <a:gs pos="0">
                  <a:srgbClr val="283E51">
                    <a:alpha val="0"/>
                  </a:srgbClr>
                </a:gs>
                <a:gs pos="33333">
                  <a:srgbClr val="283E51">
                    <a:alpha val="55115"/>
                  </a:srgbClr>
                </a:gs>
                <a:gs pos="66667">
                  <a:srgbClr val="283E51">
                    <a:alpha val="73000"/>
                  </a:srgbClr>
                </a:gs>
                <a:gs pos="100000">
                  <a:srgbClr val="122737">
                    <a:alpha val="73000"/>
                  </a:srgbClr>
                </a:gs>
              </a:gsLst>
              <a:lin ang="0"/>
            </a:gradFill>
          </p:spPr>
        </p:sp>
        <p:sp>
          <p:nvSpPr>
            <p:cNvPr name="TextBox 6" id="6"/>
            <p:cNvSpPr txBox="true"/>
            <p:nvPr/>
          </p:nvSpPr>
          <p:spPr>
            <a:xfrm>
              <a:off x="0" y="-38100"/>
              <a:ext cx="8165066" cy="4196821"/>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2700000">
            <a:off x="2609656" y="-1294087"/>
            <a:ext cx="6149853" cy="6149853"/>
          </a:xfrm>
          <a:custGeom>
            <a:avLst/>
            <a:gdLst/>
            <a:ahLst/>
            <a:cxnLst/>
            <a:rect r="r" b="b" t="t" l="l"/>
            <a:pathLst>
              <a:path h="6149853" w="6149853">
                <a:moveTo>
                  <a:pt x="0" y="0"/>
                </a:moveTo>
                <a:lnTo>
                  <a:pt x="6149853" y="0"/>
                </a:lnTo>
                <a:lnTo>
                  <a:pt x="6149853"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335980" y="449355"/>
            <a:ext cx="1589048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Bold"/>
                <a:ea typeface="Montserrat Bold"/>
                <a:cs typeface="Montserrat Bold"/>
                <a:sym typeface="Montserrat Bold"/>
              </a:rPr>
              <a:t>BUSINESS RULES &amp; LOGIC</a:t>
            </a:r>
          </a:p>
        </p:txBody>
      </p:sp>
      <p:sp>
        <p:nvSpPr>
          <p:cNvPr name="TextBox 9" id="9"/>
          <p:cNvSpPr txBox="true"/>
          <p:nvPr/>
        </p:nvSpPr>
        <p:spPr>
          <a:xfrm rot="0">
            <a:off x="621694" y="2611000"/>
            <a:ext cx="16604772" cy="1412311"/>
          </a:xfrm>
          <a:prstGeom prst="rect">
            <a:avLst/>
          </a:prstGeom>
        </p:spPr>
        <p:txBody>
          <a:bodyPr anchor="t" rtlCol="false" tIns="0" lIns="0" bIns="0" rIns="0">
            <a:spAutoFit/>
          </a:bodyPr>
          <a:lstStyle/>
          <a:p>
            <a:pPr algn="l" marL="868396" indent="-434198" lvl="1">
              <a:lnSpc>
                <a:spcPts val="5631"/>
              </a:lnSpc>
              <a:buFont typeface="Arial"/>
              <a:buChar char="•"/>
            </a:pPr>
            <a:r>
              <a:rPr lang="en-US" b="true" sz="4022">
                <a:solidFill>
                  <a:srgbClr val="FFFFFF"/>
                </a:solidFill>
                <a:latin typeface="Canva Sans Bold"/>
                <a:ea typeface="Canva Sans Bold"/>
                <a:cs typeface="Canva Sans Bold"/>
                <a:sym typeface="Canva Sans Bold"/>
              </a:rPr>
              <a:t>Every product must have a unique PRD_ID for inventory tracking.</a:t>
            </a:r>
          </a:p>
        </p:txBody>
      </p:sp>
      <p:sp>
        <p:nvSpPr>
          <p:cNvPr name="TextBox 10" id="10"/>
          <p:cNvSpPr txBox="true"/>
          <p:nvPr/>
        </p:nvSpPr>
        <p:spPr>
          <a:xfrm rot="0">
            <a:off x="621694" y="4327359"/>
            <a:ext cx="16604772" cy="1412311"/>
          </a:xfrm>
          <a:prstGeom prst="rect">
            <a:avLst/>
          </a:prstGeom>
        </p:spPr>
        <p:txBody>
          <a:bodyPr anchor="t" rtlCol="false" tIns="0" lIns="0" bIns="0" rIns="0">
            <a:spAutoFit/>
          </a:bodyPr>
          <a:lstStyle/>
          <a:p>
            <a:pPr algn="l" marL="868396" indent="-434198" lvl="1">
              <a:lnSpc>
                <a:spcPts val="5631"/>
              </a:lnSpc>
              <a:buFont typeface="Arial"/>
              <a:buChar char="•"/>
            </a:pPr>
            <a:r>
              <a:rPr lang="en-US" b="true" sz="4022">
                <a:solidFill>
                  <a:srgbClr val="FFFFFF"/>
                </a:solidFill>
                <a:latin typeface="Canva Sans Bold"/>
                <a:ea typeface="Canva Sans Bold"/>
                <a:cs typeface="Canva Sans Bold"/>
                <a:sym typeface="Canva Sans Bold"/>
              </a:rPr>
              <a:t>A customer must have a registered CST_ID before finalizing a purchase.</a:t>
            </a:r>
          </a:p>
        </p:txBody>
      </p:sp>
      <p:sp>
        <p:nvSpPr>
          <p:cNvPr name="TextBox 11" id="11"/>
          <p:cNvSpPr txBox="true"/>
          <p:nvPr/>
        </p:nvSpPr>
        <p:spPr>
          <a:xfrm rot="0">
            <a:off x="621694" y="6043717"/>
            <a:ext cx="16604772" cy="1412311"/>
          </a:xfrm>
          <a:prstGeom prst="rect">
            <a:avLst/>
          </a:prstGeom>
        </p:spPr>
        <p:txBody>
          <a:bodyPr anchor="t" rtlCol="false" tIns="0" lIns="0" bIns="0" rIns="0">
            <a:spAutoFit/>
          </a:bodyPr>
          <a:lstStyle/>
          <a:p>
            <a:pPr algn="l" marL="868396" indent="-434198" lvl="1">
              <a:lnSpc>
                <a:spcPts val="5631"/>
              </a:lnSpc>
              <a:buFont typeface="Arial"/>
              <a:buChar char="•"/>
            </a:pPr>
            <a:r>
              <a:rPr lang="en-US" b="true" sz="4022">
                <a:solidFill>
                  <a:srgbClr val="FFFFFF"/>
                </a:solidFill>
                <a:latin typeface="Canva Sans Bold"/>
                <a:ea typeface="Canva Sans Bold"/>
                <a:cs typeface="Canva Sans Bold"/>
                <a:sym typeface="Canva Sans Bold"/>
              </a:rPr>
              <a:t>An order can contain multiple products, but is illed as a single total.</a:t>
            </a:r>
          </a:p>
        </p:txBody>
      </p:sp>
      <p:sp>
        <p:nvSpPr>
          <p:cNvPr name="TextBox 12" id="12"/>
          <p:cNvSpPr txBox="true"/>
          <p:nvPr/>
        </p:nvSpPr>
        <p:spPr>
          <a:xfrm rot="0">
            <a:off x="621694" y="7845989"/>
            <a:ext cx="16604772" cy="1412311"/>
          </a:xfrm>
          <a:prstGeom prst="rect">
            <a:avLst/>
          </a:prstGeom>
        </p:spPr>
        <p:txBody>
          <a:bodyPr anchor="t" rtlCol="false" tIns="0" lIns="0" bIns="0" rIns="0">
            <a:spAutoFit/>
          </a:bodyPr>
          <a:lstStyle/>
          <a:p>
            <a:pPr algn="l" marL="868396" indent="-434198" lvl="1">
              <a:lnSpc>
                <a:spcPts val="5631"/>
              </a:lnSpc>
              <a:buFont typeface="Arial"/>
              <a:buChar char="•"/>
            </a:pPr>
            <a:r>
              <a:rPr lang="en-US" b="true" sz="4022">
                <a:solidFill>
                  <a:srgbClr val="FFFFFF"/>
                </a:solidFill>
                <a:latin typeface="Canva Sans Bold"/>
                <a:ea typeface="Canva Sans Bold"/>
                <a:cs typeface="Canva Sans Bold"/>
                <a:sym typeface="Canva Sans Bold"/>
              </a:rPr>
              <a:t>The model includes external Retailers to track physical store availability and hours.</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700000">
            <a:off x="2457256" y="-750682"/>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2700000">
            <a:off x="2609656" y="-598282"/>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335980" y="1238968"/>
            <a:ext cx="1589048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Bold"/>
                <a:ea typeface="Montserrat Bold"/>
                <a:cs typeface="Montserrat Bold"/>
                <a:sym typeface="Montserrat Bold"/>
              </a:rPr>
              <a:t>DATA REQUIREMENTS &amp; DISCOVERY</a:t>
            </a:r>
          </a:p>
        </p:txBody>
      </p:sp>
      <p:sp>
        <p:nvSpPr>
          <p:cNvPr name="Freeform 5" id="5"/>
          <p:cNvSpPr/>
          <p:nvPr/>
        </p:nvSpPr>
        <p:spPr>
          <a:xfrm flipH="false" flipV="false" rot="5400000">
            <a:off x="1969855" y="-3841813"/>
            <a:ext cx="15758842" cy="19698552"/>
          </a:xfrm>
          <a:custGeom>
            <a:avLst/>
            <a:gdLst/>
            <a:ahLst/>
            <a:cxnLst/>
            <a:rect r="r" b="b" t="t" l="l"/>
            <a:pathLst>
              <a:path h="19698552" w="15758842">
                <a:moveTo>
                  <a:pt x="0" y="0"/>
                </a:moveTo>
                <a:lnTo>
                  <a:pt x="15758842" y="0"/>
                </a:lnTo>
                <a:lnTo>
                  <a:pt x="15758842" y="19698552"/>
                </a:lnTo>
                <a:lnTo>
                  <a:pt x="0" y="19698552"/>
                </a:lnTo>
                <a:lnTo>
                  <a:pt x="0" y="0"/>
                </a:lnTo>
                <a:close/>
              </a:path>
            </a:pathLst>
          </a:custGeom>
          <a:blipFill>
            <a:blip r:embed="rId5"/>
            <a:stretch>
              <a:fillRect l="0" t="0" r="0" b="0"/>
            </a:stretch>
          </a:blipFill>
        </p:spPr>
      </p:sp>
      <p:grpSp>
        <p:nvGrpSpPr>
          <p:cNvPr name="Group 6" id="6"/>
          <p:cNvGrpSpPr/>
          <p:nvPr/>
        </p:nvGrpSpPr>
        <p:grpSpPr>
          <a:xfrm rot="0">
            <a:off x="-11891859" y="-5080900"/>
            <a:ext cx="31001733" cy="15790143"/>
            <a:chOff x="0" y="0"/>
            <a:chExt cx="8165066" cy="4158721"/>
          </a:xfrm>
        </p:grpSpPr>
        <p:sp>
          <p:nvSpPr>
            <p:cNvPr name="Freeform 7" id="7"/>
            <p:cNvSpPr/>
            <p:nvPr/>
          </p:nvSpPr>
          <p:spPr>
            <a:xfrm flipH="false" flipV="false" rot="0">
              <a:off x="0" y="0"/>
              <a:ext cx="8165065" cy="4158721"/>
            </a:xfrm>
            <a:custGeom>
              <a:avLst/>
              <a:gdLst/>
              <a:ahLst/>
              <a:cxnLst/>
              <a:rect r="r" b="b" t="t" l="l"/>
              <a:pathLst>
                <a:path h="4158721" w="8165065">
                  <a:moveTo>
                    <a:pt x="0" y="0"/>
                  </a:moveTo>
                  <a:lnTo>
                    <a:pt x="8165065" y="0"/>
                  </a:lnTo>
                  <a:lnTo>
                    <a:pt x="8165065" y="4158721"/>
                  </a:lnTo>
                  <a:lnTo>
                    <a:pt x="0" y="4158721"/>
                  </a:lnTo>
                  <a:close/>
                </a:path>
              </a:pathLst>
            </a:custGeom>
            <a:gradFill rotWithShape="true">
              <a:gsLst>
                <a:gs pos="0">
                  <a:srgbClr val="283E51">
                    <a:alpha val="0"/>
                  </a:srgbClr>
                </a:gs>
                <a:gs pos="33333">
                  <a:srgbClr val="283E51">
                    <a:alpha val="66440"/>
                  </a:srgbClr>
                </a:gs>
                <a:gs pos="66667">
                  <a:srgbClr val="283E51">
                    <a:alpha val="88000"/>
                  </a:srgbClr>
                </a:gs>
                <a:gs pos="100000">
                  <a:srgbClr val="122737">
                    <a:alpha val="88000"/>
                  </a:srgbClr>
                </a:gs>
              </a:gsLst>
              <a:lin ang="0"/>
            </a:gradFill>
          </p:spPr>
        </p:sp>
        <p:sp>
          <p:nvSpPr>
            <p:cNvPr name="TextBox 8" id="8"/>
            <p:cNvSpPr txBox="true"/>
            <p:nvPr/>
          </p:nvSpPr>
          <p:spPr>
            <a:xfrm>
              <a:off x="0" y="-38100"/>
              <a:ext cx="8165066" cy="4196821"/>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2700000">
            <a:off x="2099053" y="-1416066"/>
            <a:ext cx="6149853" cy="6149853"/>
          </a:xfrm>
          <a:custGeom>
            <a:avLst/>
            <a:gdLst/>
            <a:ahLst/>
            <a:cxnLst/>
            <a:rect r="r" b="b" t="t" l="l"/>
            <a:pathLst>
              <a:path h="6149853" w="6149853">
                <a:moveTo>
                  <a:pt x="0" y="0"/>
                </a:moveTo>
                <a:lnTo>
                  <a:pt x="6149854" y="0"/>
                </a:lnTo>
                <a:lnTo>
                  <a:pt x="6149854"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4532588" y="1028700"/>
            <a:ext cx="2920897" cy="8825283"/>
          </a:xfrm>
          <a:custGeom>
            <a:avLst/>
            <a:gdLst/>
            <a:ahLst/>
            <a:cxnLst/>
            <a:rect r="r" b="b" t="t" l="l"/>
            <a:pathLst>
              <a:path h="8825283" w="2920897">
                <a:moveTo>
                  <a:pt x="0" y="0"/>
                </a:moveTo>
                <a:lnTo>
                  <a:pt x="2920898" y="0"/>
                </a:lnTo>
                <a:lnTo>
                  <a:pt x="2920898" y="8825283"/>
                </a:lnTo>
                <a:lnTo>
                  <a:pt x="0" y="8825283"/>
                </a:lnTo>
                <a:lnTo>
                  <a:pt x="0" y="0"/>
                </a:lnTo>
                <a:close/>
              </a:path>
            </a:pathLst>
          </a:custGeom>
          <a:blipFill>
            <a:blip r:embed="rId6"/>
            <a:stretch>
              <a:fillRect l="0" t="0" r="0" b="0"/>
            </a:stretch>
          </a:blipFill>
        </p:spPr>
      </p:sp>
      <p:sp>
        <p:nvSpPr>
          <p:cNvPr name="TextBox 11" id="11"/>
          <p:cNvSpPr txBox="true"/>
          <p:nvPr/>
        </p:nvSpPr>
        <p:spPr>
          <a:xfrm rot="0">
            <a:off x="1028700" y="449355"/>
            <a:ext cx="1698776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Bold"/>
                <a:ea typeface="Montserrat Bold"/>
                <a:cs typeface="Montserrat Bold"/>
                <a:sym typeface="Montserrat Bold"/>
              </a:rPr>
              <a:t>FIRST NORMAL FORM (1NF)</a:t>
            </a:r>
          </a:p>
        </p:txBody>
      </p:sp>
      <p:sp>
        <p:nvSpPr>
          <p:cNvPr name="TextBox 12" id="12"/>
          <p:cNvSpPr txBox="true"/>
          <p:nvPr/>
        </p:nvSpPr>
        <p:spPr>
          <a:xfrm rot="0">
            <a:off x="443123" y="2153182"/>
            <a:ext cx="13807151" cy="7127311"/>
          </a:xfrm>
          <a:prstGeom prst="rect">
            <a:avLst/>
          </a:prstGeom>
        </p:spPr>
        <p:txBody>
          <a:bodyPr anchor="t" rtlCol="false" tIns="0" lIns="0" bIns="0" rIns="0">
            <a:spAutoFit/>
          </a:bodyPr>
          <a:lstStyle/>
          <a:p>
            <a:pPr algn="l">
              <a:lnSpc>
                <a:spcPts val="5631"/>
              </a:lnSpc>
            </a:pPr>
            <a:r>
              <a:rPr lang="en-US" sz="4022" b="true">
                <a:solidFill>
                  <a:srgbClr val="FFFFFF"/>
                </a:solidFill>
                <a:latin typeface="Canva Sans Bold"/>
                <a:ea typeface="Canva Sans Bold"/>
                <a:cs typeface="Canva Sans Bold"/>
                <a:sym typeface="Canva Sans Bold"/>
              </a:rPr>
              <a:t>The Goal: Getting the data "organized and atomic."</a:t>
            </a:r>
          </a:p>
          <a:p>
            <a:pPr algn="l">
              <a:lnSpc>
                <a:spcPts val="5631"/>
              </a:lnSpc>
            </a:pPr>
          </a:p>
          <a:p>
            <a:pPr algn="l" marL="868396" indent="-434198" lvl="1">
              <a:lnSpc>
                <a:spcPts val="5631"/>
              </a:lnSpc>
              <a:buFont typeface="Arial"/>
              <a:buChar char="•"/>
            </a:pPr>
            <a:r>
              <a:rPr lang="en-US" b="true" sz="4022">
                <a:solidFill>
                  <a:srgbClr val="FFFFFF"/>
                </a:solidFill>
                <a:latin typeface="Canva Sans Bold"/>
                <a:ea typeface="Canva Sans Bold"/>
                <a:cs typeface="Canva Sans Bold"/>
                <a:sym typeface="Canva Sans Bold"/>
              </a:rPr>
              <a:t>Eliminated Repeating Groups.</a:t>
            </a:r>
          </a:p>
          <a:p>
            <a:pPr algn="l">
              <a:lnSpc>
                <a:spcPts val="5631"/>
              </a:lnSpc>
            </a:pPr>
          </a:p>
          <a:p>
            <a:pPr algn="l" marL="868396" indent="-434198" lvl="1">
              <a:lnSpc>
                <a:spcPts val="5631"/>
              </a:lnSpc>
              <a:buFont typeface="Arial"/>
              <a:buChar char="•"/>
            </a:pPr>
            <a:r>
              <a:rPr lang="en-US" b="true" sz="4022">
                <a:solidFill>
                  <a:srgbClr val="FFFFFF"/>
                </a:solidFill>
                <a:latin typeface="Canva Sans Bold"/>
                <a:ea typeface="Canva Sans Bold"/>
                <a:cs typeface="Canva Sans Bold"/>
                <a:sym typeface="Canva Sans Bold"/>
              </a:rPr>
              <a:t>Every cell contains exactly one piece of information.</a:t>
            </a:r>
          </a:p>
          <a:p>
            <a:pPr algn="l">
              <a:lnSpc>
                <a:spcPts val="5631"/>
              </a:lnSpc>
            </a:pPr>
          </a:p>
          <a:p>
            <a:pPr algn="l" marL="868396" indent="-434198" lvl="1">
              <a:lnSpc>
                <a:spcPts val="5631"/>
              </a:lnSpc>
              <a:buFont typeface="Arial"/>
              <a:buChar char="•"/>
            </a:pPr>
            <a:r>
              <a:rPr lang="en-US" b="true" sz="4022">
                <a:solidFill>
                  <a:srgbClr val="FFFFFF"/>
                </a:solidFill>
                <a:latin typeface="Canva Sans Bold"/>
                <a:ea typeface="Canva Sans Bold"/>
                <a:cs typeface="Canva Sans Bold"/>
                <a:sym typeface="Canva Sans Bold"/>
              </a:rPr>
              <a:t>Established PRD_ID and CST_ID to ensure every row is unique and searchable.</a:t>
            </a:r>
          </a:p>
          <a:p>
            <a:pPr algn="l">
              <a:lnSpc>
                <a:spcPts val="5631"/>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700000">
            <a:off x="2457256" y="-750682"/>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2700000">
            <a:off x="2609656" y="-598282"/>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335980" y="1238968"/>
            <a:ext cx="1589048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Bold"/>
                <a:ea typeface="Montserrat Bold"/>
                <a:cs typeface="Montserrat Bold"/>
                <a:sym typeface="Montserrat Bold"/>
              </a:rPr>
              <a:t>DATA REQUIREMENTS &amp; DISCOVERY</a:t>
            </a:r>
          </a:p>
        </p:txBody>
      </p:sp>
      <p:sp>
        <p:nvSpPr>
          <p:cNvPr name="Freeform 5" id="5"/>
          <p:cNvSpPr/>
          <p:nvPr/>
        </p:nvSpPr>
        <p:spPr>
          <a:xfrm flipH="false" flipV="false" rot="5400000">
            <a:off x="1969855" y="-3841813"/>
            <a:ext cx="15758842" cy="19698552"/>
          </a:xfrm>
          <a:custGeom>
            <a:avLst/>
            <a:gdLst/>
            <a:ahLst/>
            <a:cxnLst/>
            <a:rect r="r" b="b" t="t" l="l"/>
            <a:pathLst>
              <a:path h="19698552" w="15758842">
                <a:moveTo>
                  <a:pt x="0" y="0"/>
                </a:moveTo>
                <a:lnTo>
                  <a:pt x="15758842" y="0"/>
                </a:lnTo>
                <a:lnTo>
                  <a:pt x="15758842" y="19698552"/>
                </a:lnTo>
                <a:lnTo>
                  <a:pt x="0" y="19698552"/>
                </a:lnTo>
                <a:lnTo>
                  <a:pt x="0" y="0"/>
                </a:lnTo>
                <a:close/>
              </a:path>
            </a:pathLst>
          </a:custGeom>
          <a:blipFill>
            <a:blip r:embed="rId5"/>
            <a:stretch>
              <a:fillRect l="0" t="0" r="0" b="0"/>
            </a:stretch>
          </a:blipFill>
        </p:spPr>
      </p:sp>
      <p:grpSp>
        <p:nvGrpSpPr>
          <p:cNvPr name="Group 6" id="6"/>
          <p:cNvGrpSpPr/>
          <p:nvPr/>
        </p:nvGrpSpPr>
        <p:grpSpPr>
          <a:xfrm rot="0">
            <a:off x="-11891859" y="-5080900"/>
            <a:ext cx="31001733" cy="15790143"/>
            <a:chOff x="0" y="0"/>
            <a:chExt cx="8165066" cy="4158721"/>
          </a:xfrm>
        </p:grpSpPr>
        <p:sp>
          <p:nvSpPr>
            <p:cNvPr name="Freeform 7" id="7"/>
            <p:cNvSpPr/>
            <p:nvPr/>
          </p:nvSpPr>
          <p:spPr>
            <a:xfrm flipH="false" flipV="false" rot="0">
              <a:off x="0" y="0"/>
              <a:ext cx="8165065" cy="4158721"/>
            </a:xfrm>
            <a:custGeom>
              <a:avLst/>
              <a:gdLst/>
              <a:ahLst/>
              <a:cxnLst/>
              <a:rect r="r" b="b" t="t" l="l"/>
              <a:pathLst>
                <a:path h="4158721" w="8165065">
                  <a:moveTo>
                    <a:pt x="0" y="0"/>
                  </a:moveTo>
                  <a:lnTo>
                    <a:pt x="8165065" y="0"/>
                  </a:lnTo>
                  <a:lnTo>
                    <a:pt x="8165065" y="4158721"/>
                  </a:lnTo>
                  <a:lnTo>
                    <a:pt x="0" y="4158721"/>
                  </a:lnTo>
                  <a:close/>
                </a:path>
              </a:pathLst>
            </a:custGeom>
            <a:gradFill rotWithShape="true">
              <a:gsLst>
                <a:gs pos="0">
                  <a:srgbClr val="283E51">
                    <a:alpha val="0"/>
                  </a:srgbClr>
                </a:gs>
                <a:gs pos="33333">
                  <a:srgbClr val="283E51">
                    <a:alpha val="66440"/>
                  </a:srgbClr>
                </a:gs>
                <a:gs pos="66667">
                  <a:srgbClr val="283E51">
                    <a:alpha val="88000"/>
                  </a:srgbClr>
                </a:gs>
                <a:gs pos="100000">
                  <a:srgbClr val="122737">
                    <a:alpha val="88000"/>
                  </a:srgbClr>
                </a:gs>
              </a:gsLst>
              <a:lin ang="0"/>
            </a:gradFill>
          </p:spPr>
        </p:sp>
        <p:sp>
          <p:nvSpPr>
            <p:cNvPr name="TextBox 8" id="8"/>
            <p:cNvSpPr txBox="true"/>
            <p:nvPr/>
          </p:nvSpPr>
          <p:spPr>
            <a:xfrm>
              <a:off x="0" y="-38100"/>
              <a:ext cx="8165066" cy="4196821"/>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2700000">
            <a:off x="2099053" y="-1416066"/>
            <a:ext cx="6149853" cy="6149853"/>
          </a:xfrm>
          <a:custGeom>
            <a:avLst/>
            <a:gdLst/>
            <a:ahLst/>
            <a:cxnLst/>
            <a:rect r="r" b="b" t="t" l="l"/>
            <a:pathLst>
              <a:path h="6149853" w="6149853">
                <a:moveTo>
                  <a:pt x="0" y="0"/>
                </a:moveTo>
                <a:lnTo>
                  <a:pt x="6149854" y="0"/>
                </a:lnTo>
                <a:lnTo>
                  <a:pt x="6149854"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443123" y="2153182"/>
            <a:ext cx="13807151" cy="9984811"/>
          </a:xfrm>
          <a:prstGeom prst="rect">
            <a:avLst/>
          </a:prstGeom>
        </p:spPr>
        <p:txBody>
          <a:bodyPr anchor="t" rtlCol="false" tIns="0" lIns="0" bIns="0" rIns="0">
            <a:spAutoFit/>
          </a:bodyPr>
          <a:lstStyle/>
          <a:p>
            <a:pPr algn="l">
              <a:lnSpc>
                <a:spcPts val="5631"/>
              </a:lnSpc>
            </a:pPr>
            <a:r>
              <a:rPr lang="en-US" sz="4022" b="true">
                <a:solidFill>
                  <a:srgbClr val="FFFFFF"/>
                </a:solidFill>
                <a:latin typeface="Canva Sans Bold"/>
                <a:ea typeface="Canva Sans Bold"/>
                <a:cs typeface="Canva Sans Bold"/>
                <a:sym typeface="Canva Sans Bold"/>
              </a:rPr>
              <a:t>The Goal: Removing "Partial Dependencies."</a:t>
            </a:r>
          </a:p>
          <a:p>
            <a:pPr algn="l">
              <a:lnSpc>
                <a:spcPts val="5631"/>
              </a:lnSpc>
            </a:pPr>
          </a:p>
          <a:p>
            <a:pPr algn="l" marL="868396" indent="-434198" lvl="1">
              <a:lnSpc>
                <a:spcPts val="5631"/>
              </a:lnSpc>
              <a:buFont typeface="Arial"/>
              <a:buChar char="•"/>
            </a:pPr>
            <a:r>
              <a:rPr lang="en-US" b="true" sz="4022">
                <a:solidFill>
                  <a:srgbClr val="FFFFFF"/>
                </a:solidFill>
                <a:latin typeface="Canva Sans Bold"/>
                <a:ea typeface="Canva Sans Bold"/>
                <a:cs typeface="Canva Sans Bold"/>
                <a:sym typeface="Canva Sans Bold"/>
              </a:rPr>
              <a:t> We broke the 1NF table into three main "homes": Products, Customers, and Orders.</a:t>
            </a:r>
          </a:p>
          <a:p>
            <a:pPr algn="l">
              <a:lnSpc>
                <a:spcPts val="5631"/>
              </a:lnSpc>
            </a:pPr>
          </a:p>
          <a:p>
            <a:pPr algn="l" marL="868396" indent="-434198" lvl="1">
              <a:lnSpc>
                <a:spcPts val="5631"/>
              </a:lnSpc>
              <a:buFont typeface="Arial"/>
              <a:buChar char="•"/>
            </a:pPr>
            <a:r>
              <a:rPr lang="en-US" b="true" sz="4022">
                <a:solidFill>
                  <a:srgbClr val="FFFFFF"/>
                </a:solidFill>
                <a:latin typeface="Canva Sans Bold"/>
                <a:ea typeface="Canva Sans Bold"/>
                <a:cs typeface="Canva Sans Bold"/>
                <a:sym typeface="Canva Sans Bold"/>
              </a:rPr>
              <a:t>Removing Redundancy: Data that only relates to a product.</a:t>
            </a:r>
          </a:p>
          <a:p>
            <a:pPr algn="l">
              <a:lnSpc>
                <a:spcPts val="5631"/>
              </a:lnSpc>
            </a:pPr>
          </a:p>
          <a:p>
            <a:pPr algn="l" marL="868396" indent="-434198" lvl="1">
              <a:lnSpc>
                <a:spcPts val="5631"/>
              </a:lnSpc>
              <a:buFont typeface="Arial"/>
              <a:buChar char="•"/>
            </a:pPr>
            <a:r>
              <a:rPr lang="en-US" b="true" sz="4022">
                <a:solidFill>
                  <a:srgbClr val="FFFFFF"/>
                </a:solidFill>
                <a:latin typeface="Canva Sans Bold"/>
                <a:ea typeface="Canva Sans Bold"/>
                <a:cs typeface="Canva Sans Bold"/>
                <a:sym typeface="Canva Sans Bold"/>
              </a:rPr>
              <a:t>In our 'Order_Product' table, we ensured that every detail relates to the entire transaction, not just one part of it.</a:t>
            </a:r>
          </a:p>
          <a:p>
            <a:pPr algn="l">
              <a:lnSpc>
                <a:spcPts val="5631"/>
              </a:lnSpc>
            </a:pPr>
          </a:p>
          <a:p>
            <a:pPr algn="l">
              <a:lnSpc>
                <a:spcPts val="5631"/>
              </a:lnSpc>
            </a:pPr>
          </a:p>
          <a:p>
            <a:pPr algn="l">
              <a:lnSpc>
                <a:spcPts val="5631"/>
              </a:lnSpc>
            </a:pPr>
          </a:p>
        </p:txBody>
      </p:sp>
      <p:sp>
        <p:nvSpPr>
          <p:cNvPr name="Freeform 11" id="11"/>
          <p:cNvSpPr/>
          <p:nvPr/>
        </p:nvSpPr>
        <p:spPr>
          <a:xfrm flipH="false" flipV="false" rot="0">
            <a:off x="14250274" y="2238907"/>
            <a:ext cx="3500858" cy="5567153"/>
          </a:xfrm>
          <a:custGeom>
            <a:avLst/>
            <a:gdLst/>
            <a:ahLst/>
            <a:cxnLst/>
            <a:rect r="r" b="b" t="t" l="l"/>
            <a:pathLst>
              <a:path h="5567153" w="3500858">
                <a:moveTo>
                  <a:pt x="0" y="0"/>
                </a:moveTo>
                <a:lnTo>
                  <a:pt x="3500858" y="0"/>
                </a:lnTo>
                <a:lnTo>
                  <a:pt x="3500858" y="5567153"/>
                </a:lnTo>
                <a:lnTo>
                  <a:pt x="0" y="5567153"/>
                </a:lnTo>
                <a:lnTo>
                  <a:pt x="0" y="0"/>
                </a:lnTo>
                <a:close/>
              </a:path>
            </a:pathLst>
          </a:custGeom>
          <a:blipFill>
            <a:blip r:embed="rId6"/>
            <a:stretch>
              <a:fillRect l="0" t="0" r="0" b="0"/>
            </a:stretch>
          </a:blipFill>
        </p:spPr>
      </p:sp>
      <p:sp>
        <p:nvSpPr>
          <p:cNvPr name="TextBox 12" id="12"/>
          <p:cNvSpPr txBox="true"/>
          <p:nvPr/>
        </p:nvSpPr>
        <p:spPr>
          <a:xfrm rot="0">
            <a:off x="1028700" y="449355"/>
            <a:ext cx="1698776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Bold"/>
                <a:ea typeface="Montserrat Bold"/>
                <a:cs typeface="Montserrat Bold"/>
                <a:sym typeface="Montserrat Bold"/>
              </a:rPr>
              <a:t>FIRST NORMAL FORM (2NF)</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700000">
            <a:off x="2457256" y="-750682"/>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2700000">
            <a:off x="2609656" y="-598282"/>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335980" y="1238968"/>
            <a:ext cx="1589048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Bold"/>
                <a:ea typeface="Montserrat Bold"/>
                <a:cs typeface="Montserrat Bold"/>
                <a:sym typeface="Montserrat Bold"/>
              </a:rPr>
              <a:t>DATA REQUIREMENTS &amp; DISCOVERY</a:t>
            </a:r>
          </a:p>
        </p:txBody>
      </p:sp>
      <p:sp>
        <p:nvSpPr>
          <p:cNvPr name="Freeform 5" id="5"/>
          <p:cNvSpPr/>
          <p:nvPr/>
        </p:nvSpPr>
        <p:spPr>
          <a:xfrm flipH="false" flipV="false" rot="5400000">
            <a:off x="1969855" y="-3841813"/>
            <a:ext cx="15758842" cy="19698552"/>
          </a:xfrm>
          <a:custGeom>
            <a:avLst/>
            <a:gdLst/>
            <a:ahLst/>
            <a:cxnLst/>
            <a:rect r="r" b="b" t="t" l="l"/>
            <a:pathLst>
              <a:path h="19698552" w="15758842">
                <a:moveTo>
                  <a:pt x="0" y="0"/>
                </a:moveTo>
                <a:lnTo>
                  <a:pt x="15758842" y="0"/>
                </a:lnTo>
                <a:lnTo>
                  <a:pt x="15758842" y="19698552"/>
                </a:lnTo>
                <a:lnTo>
                  <a:pt x="0" y="19698552"/>
                </a:lnTo>
                <a:lnTo>
                  <a:pt x="0" y="0"/>
                </a:lnTo>
                <a:close/>
              </a:path>
            </a:pathLst>
          </a:custGeom>
          <a:blipFill>
            <a:blip r:embed="rId5"/>
            <a:stretch>
              <a:fillRect l="0" t="0" r="0" b="0"/>
            </a:stretch>
          </a:blipFill>
        </p:spPr>
      </p:sp>
      <p:grpSp>
        <p:nvGrpSpPr>
          <p:cNvPr name="Group 6" id="6"/>
          <p:cNvGrpSpPr/>
          <p:nvPr/>
        </p:nvGrpSpPr>
        <p:grpSpPr>
          <a:xfrm rot="0">
            <a:off x="-11891859" y="-5080900"/>
            <a:ext cx="31001733" cy="15790143"/>
            <a:chOff x="0" y="0"/>
            <a:chExt cx="8165066" cy="4158721"/>
          </a:xfrm>
        </p:grpSpPr>
        <p:sp>
          <p:nvSpPr>
            <p:cNvPr name="Freeform 7" id="7"/>
            <p:cNvSpPr/>
            <p:nvPr/>
          </p:nvSpPr>
          <p:spPr>
            <a:xfrm flipH="false" flipV="false" rot="0">
              <a:off x="0" y="0"/>
              <a:ext cx="8165065" cy="4158721"/>
            </a:xfrm>
            <a:custGeom>
              <a:avLst/>
              <a:gdLst/>
              <a:ahLst/>
              <a:cxnLst/>
              <a:rect r="r" b="b" t="t" l="l"/>
              <a:pathLst>
                <a:path h="4158721" w="8165065">
                  <a:moveTo>
                    <a:pt x="0" y="0"/>
                  </a:moveTo>
                  <a:lnTo>
                    <a:pt x="8165065" y="0"/>
                  </a:lnTo>
                  <a:lnTo>
                    <a:pt x="8165065" y="4158721"/>
                  </a:lnTo>
                  <a:lnTo>
                    <a:pt x="0" y="4158721"/>
                  </a:lnTo>
                  <a:close/>
                </a:path>
              </a:pathLst>
            </a:custGeom>
            <a:gradFill rotWithShape="true">
              <a:gsLst>
                <a:gs pos="0">
                  <a:srgbClr val="283E51">
                    <a:alpha val="0"/>
                  </a:srgbClr>
                </a:gs>
                <a:gs pos="33333">
                  <a:srgbClr val="283E51">
                    <a:alpha val="66440"/>
                  </a:srgbClr>
                </a:gs>
                <a:gs pos="66667">
                  <a:srgbClr val="283E51">
                    <a:alpha val="88000"/>
                  </a:srgbClr>
                </a:gs>
                <a:gs pos="100000">
                  <a:srgbClr val="122737">
                    <a:alpha val="88000"/>
                  </a:srgbClr>
                </a:gs>
              </a:gsLst>
              <a:lin ang="0"/>
            </a:gradFill>
          </p:spPr>
        </p:sp>
        <p:sp>
          <p:nvSpPr>
            <p:cNvPr name="TextBox 8" id="8"/>
            <p:cNvSpPr txBox="true"/>
            <p:nvPr/>
          </p:nvSpPr>
          <p:spPr>
            <a:xfrm>
              <a:off x="0" y="-38100"/>
              <a:ext cx="8165066" cy="4196821"/>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2700000">
            <a:off x="2099053" y="-1416066"/>
            <a:ext cx="6149853" cy="6149853"/>
          </a:xfrm>
          <a:custGeom>
            <a:avLst/>
            <a:gdLst/>
            <a:ahLst/>
            <a:cxnLst/>
            <a:rect r="r" b="b" t="t" l="l"/>
            <a:pathLst>
              <a:path h="6149853" w="6149853">
                <a:moveTo>
                  <a:pt x="0" y="0"/>
                </a:moveTo>
                <a:lnTo>
                  <a:pt x="6149854" y="0"/>
                </a:lnTo>
                <a:lnTo>
                  <a:pt x="6149854"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522583" y="2005581"/>
            <a:ext cx="8493883" cy="8049814"/>
          </a:xfrm>
          <a:custGeom>
            <a:avLst/>
            <a:gdLst/>
            <a:ahLst/>
            <a:cxnLst/>
            <a:rect r="r" b="b" t="t" l="l"/>
            <a:pathLst>
              <a:path h="8049814" w="8493883">
                <a:moveTo>
                  <a:pt x="0" y="0"/>
                </a:moveTo>
                <a:lnTo>
                  <a:pt x="8493883" y="0"/>
                </a:lnTo>
                <a:lnTo>
                  <a:pt x="8493883" y="8049814"/>
                </a:lnTo>
                <a:lnTo>
                  <a:pt x="0" y="8049814"/>
                </a:lnTo>
                <a:lnTo>
                  <a:pt x="0" y="0"/>
                </a:lnTo>
                <a:close/>
              </a:path>
            </a:pathLst>
          </a:custGeom>
          <a:blipFill>
            <a:blip r:embed="rId6"/>
            <a:stretch>
              <a:fillRect l="0" t="-1080" r="0" b="-1080"/>
            </a:stretch>
          </a:blipFill>
        </p:spPr>
      </p:sp>
      <p:sp>
        <p:nvSpPr>
          <p:cNvPr name="TextBox 11" id="11"/>
          <p:cNvSpPr txBox="true"/>
          <p:nvPr/>
        </p:nvSpPr>
        <p:spPr>
          <a:xfrm rot="0">
            <a:off x="443123" y="2153182"/>
            <a:ext cx="8838100" cy="9270436"/>
          </a:xfrm>
          <a:prstGeom prst="rect">
            <a:avLst/>
          </a:prstGeom>
        </p:spPr>
        <p:txBody>
          <a:bodyPr anchor="t" rtlCol="false" tIns="0" lIns="0" bIns="0" rIns="0">
            <a:spAutoFit/>
          </a:bodyPr>
          <a:lstStyle/>
          <a:p>
            <a:pPr algn="l">
              <a:lnSpc>
                <a:spcPts val="5631"/>
              </a:lnSpc>
            </a:pPr>
            <a:r>
              <a:rPr lang="en-US" sz="4022" b="true">
                <a:solidFill>
                  <a:srgbClr val="FFFFFF"/>
                </a:solidFill>
                <a:latin typeface="Canva Sans Bold"/>
                <a:ea typeface="Canva Sans Bold"/>
                <a:cs typeface="Canva Sans Bold"/>
                <a:sym typeface="Canva Sans Bold"/>
              </a:rPr>
              <a:t>The Goal: Removing "Transitive Dependencies."</a:t>
            </a:r>
          </a:p>
          <a:p>
            <a:pPr algn="l">
              <a:lnSpc>
                <a:spcPts val="5631"/>
              </a:lnSpc>
            </a:pPr>
          </a:p>
          <a:p>
            <a:pPr algn="l" marL="868396" indent="-434198" lvl="1">
              <a:lnSpc>
                <a:spcPts val="5631"/>
              </a:lnSpc>
              <a:buFont typeface="Arial"/>
              <a:buChar char="•"/>
            </a:pPr>
            <a:r>
              <a:rPr lang="en-US" b="true" sz="4022">
                <a:solidFill>
                  <a:srgbClr val="FFFFFF"/>
                </a:solidFill>
                <a:latin typeface="Canva Sans Bold"/>
                <a:ea typeface="Canva Sans Bold"/>
                <a:cs typeface="Canva Sans Bold"/>
                <a:sym typeface="Canva Sans Bold"/>
              </a:rPr>
              <a:t>Every column must depend only on the PK.</a:t>
            </a:r>
          </a:p>
          <a:p>
            <a:pPr algn="l">
              <a:lnSpc>
                <a:spcPts val="5631"/>
              </a:lnSpc>
            </a:pPr>
          </a:p>
          <a:p>
            <a:pPr algn="l" marL="868396" indent="-434198" lvl="1">
              <a:lnSpc>
                <a:spcPts val="5631"/>
              </a:lnSpc>
              <a:buFont typeface="Arial"/>
              <a:buChar char="•"/>
            </a:pPr>
            <a:r>
              <a:rPr lang="en-US" b="true" sz="4022">
                <a:solidFill>
                  <a:srgbClr val="FFFFFF"/>
                </a:solidFill>
                <a:latin typeface="Canva Sans Bold"/>
                <a:ea typeface="Canva Sans Bold"/>
                <a:cs typeface="Canva Sans Bold"/>
                <a:sym typeface="Canva Sans Bold"/>
              </a:rPr>
              <a:t>Created the Shipping and Retailer tables.</a:t>
            </a:r>
          </a:p>
          <a:p>
            <a:pPr algn="l">
              <a:lnSpc>
                <a:spcPts val="5631"/>
              </a:lnSpc>
            </a:pPr>
          </a:p>
          <a:p>
            <a:pPr algn="l" marL="868396" indent="-434198" lvl="1">
              <a:lnSpc>
                <a:spcPts val="5631"/>
              </a:lnSpc>
              <a:buFont typeface="Arial"/>
              <a:buChar char="•"/>
            </a:pPr>
            <a:r>
              <a:rPr lang="en-US" b="true" sz="4022">
                <a:solidFill>
                  <a:srgbClr val="FFFFFF"/>
                </a:solidFill>
                <a:latin typeface="Canva Sans Bold"/>
                <a:ea typeface="Canva Sans Bold"/>
                <a:cs typeface="Canva Sans Bold"/>
                <a:sym typeface="Canva Sans Bold"/>
              </a:rPr>
              <a:t>Adressing the Zip Code Issue.</a:t>
            </a:r>
          </a:p>
          <a:p>
            <a:pPr algn="l">
              <a:lnSpc>
                <a:spcPts val="5631"/>
              </a:lnSpc>
            </a:pPr>
          </a:p>
          <a:p>
            <a:pPr algn="l">
              <a:lnSpc>
                <a:spcPts val="5631"/>
              </a:lnSpc>
            </a:pPr>
          </a:p>
          <a:p>
            <a:pPr algn="l">
              <a:lnSpc>
                <a:spcPts val="5631"/>
              </a:lnSpc>
            </a:pPr>
          </a:p>
        </p:txBody>
      </p:sp>
      <p:sp>
        <p:nvSpPr>
          <p:cNvPr name="TextBox 12" id="12"/>
          <p:cNvSpPr txBox="true"/>
          <p:nvPr/>
        </p:nvSpPr>
        <p:spPr>
          <a:xfrm rot="0">
            <a:off x="1028700" y="449355"/>
            <a:ext cx="1698776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Bold"/>
                <a:ea typeface="Montserrat Bold"/>
                <a:cs typeface="Montserrat Bold"/>
                <a:sym typeface="Montserrat Bold"/>
              </a:rPr>
              <a:t>FIRST NORMAL FORM (3NF)</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700000">
            <a:off x="2457256" y="-750682"/>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2700000">
            <a:off x="2609656" y="-598282"/>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335980" y="1238968"/>
            <a:ext cx="1589048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Bold"/>
                <a:ea typeface="Montserrat Bold"/>
                <a:cs typeface="Montserrat Bold"/>
                <a:sym typeface="Montserrat Bold"/>
              </a:rPr>
              <a:t>DATA REQUIREMENTS &amp; DISCOVERY</a:t>
            </a:r>
          </a:p>
        </p:txBody>
      </p:sp>
      <p:sp>
        <p:nvSpPr>
          <p:cNvPr name="Freeform 5" id="5"/>
          <p:cNvSpPr/>
          <p:nvPr/>
        </p:nvSpPr>
        <p:spPr>
          <a:xfrm flipH="false" flipV="false" rot="2700000">
            <a:off x="2302376" y="-791568"/>
            <a:ext cx="6149853" cy="6149853"/>
          </a:xfrm>
          <a:custGeom>
            <a:avLst/>
            <a:gdLst/>
            <a:ahLst/>
            <a:cxnLst/>
            <a:rect r="r" b="b" t="t" l="l"/>
            <a:pathLst>
              <a:path h="6149853" w="6149853">
                <a:moveTo>
                  <a:pt x="0" y="0"/>
                </a:moveTo>
                <a:lnTo>
                  <a:pt x="6149853" y="0"/>
                </a:lnTo>
                <a:lnTo>
                  <a:pt x="6149853"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85338" y="0"/>
            <a:ext cx="19008530" cy="11880331"/>
          </a:xfrm>
          <a:custGeom>
            <a:avLst/>
            <a:gdLst/>
            <a:ahLst/>
            <a:cxnLst/>
            <a:rect r="r" b="b" t="t" l="l"/>
            <a:pathLst>
              <a:path h="11880331" w="19008530">
                <a:moveTo>
                  <a:pt x="0" y="0"/>
                </a:moveTo>
                <a:lnTo>
                  <a:pt x="19008530" y="0"/>
                </a:lnTo>
                <a:lnTo>
                  <a:pt x="19008530" y="11880331"/>
                </a:lnTo>
                <a:lnTo>
                  <a:pt x="0" y="11880331"/>
                </a:lnTo>
                <a:lnTo>
                  <a:pt x="0" y="0"/>
                </a:lnTo>
                <a:close/>
              </a:path>
            </a:pathLst>
          </a:custGeom>
          <a:blipFill>
            <a:blip r:embed="rId5"/>
            <a:stretch>
              <a:fillRect l="0" t="0" r="0" b="0"/>
            </a:stretch>
          </a:blipFill>
        </p:spPr>
      </p:sp>
      <p:grpSp>
        <p:nvGrpSpPr>
          <p:cNvPr name="Group 7" id="7"/>
          <p:cNvGrpSpPr/>
          <p:nvPr/>
        </p:nvGrpSpPr>
        <p:grpSpPr>
          <a:xfrm rot="0">
            <a:off x="-15091173" y="-3909811"/>
            <a:ext cx="33914365" cy="15790143"/>
            <a:chOff x="0" y="0"/>
            <a:chExt cx="8932178" cy="4158721"/>
          </a:xfrm>
        </p:grpSpPr>
        <p:sp>
          <p:nvSpPr>
            <p:cNvPr name="Freeform 8" id="8"/>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46810"/>
                  </a:srgbClr>
                </a:gs>
                <a:gs pos="66667">
                  <a:srgbClr val="283E51">
                    <a:alpha val="62000"/>
                  </a:srgbClr>
                </a:gs>
                <a:gs pos="100000">
                  <a:srgbClr val="122737">
                    <a:alpha val="62000"/>
                  </a:srgbClr>
                </a:gs>
              </a:gsLst>
              <a:lin ang="0"/>
            </a:gradFill>
          </p:spPr>
        </p:sp>
        <p:sp>
          <p:nvSpPr>
            <p:cNvPr name="TextBox 9" id="9"/>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914400"/>
            <a:ext cx="1698776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Bold"/>
                <a:ea typeface="Montserrat Bold"/>
                <a:cs typeface="Montserrat Bold"/>
                <a:sym typeface="Montserrat Bold"/>
              </a:rPr>
              <a:t>SQL IMPLEMENTATION | TABLES</a:t>
            </a:r>
          </a:p>
        </p:txBody>
      </p:sp>
      <p:sp>
        <p:nvSpPr>
          <p:cNvPr name="Freeform 11" id="11"/>
          <p:cNvSpPr/>
          <p:nvPr/>
        </p:nvSpPr>
        <p:spPr>
          <a:xfrm flipH="false" flipV="false" rot="2700000">
            <a:off x="2302376" y="-791568"/>
            <a:ext cx="6149853" cy="6149853"/>
          </a:xfrm>
          <a:custGeom>
            <a:avLst/>
            <a:gdLst/>
            <a:ahLst/>
            <a:cxnLst/>
            <a:rect r="r" b="b" t="t" l="l"/>
            <a:pathLst>
              <a:path h="6149853" w="6149853">
                <a:moveTo>
                  <a:pt x="0" y="0"/>
                </a:moveTo>
                <a:lnTo>
                  <a:pt x="6149853" y="0"/>
                </a:lnTo>
                <a:lnTo>
                  <a:pt x="6149853"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028700" y="2853650"/>
            <a:ext cx="6112414" cy="4489303"/>
          </a:xfrm>
          <a:custGeom>
            <a:avLst/>
            <a:gdLst/>
            <a:ahLst/>
            <a:cxnLst/>
            <a:rect r="r" b="b" t="t" l="l"/>
            <a:pathLst>
              <a:path h="4489303" w="6112414">
                <a:moveTo>
                  <a:pt x="0" y="0"/>
                </a:moveTo>
                <a:lnTo>
                  <a:pt x="6112414" y="0"/>
                </a:lnTo>
                <a:lnTo>
                  <a:pt x="6112414" y="4489303"/>
                </a:lnTo>
                <a:lnTo>
                  <a:pt x="0" y="4489303"/>
                </a:lnTo>
                <a:lnTo>
                  <a:pt x="0" y="0"/>
                </a:lnTo>
                <a:close/>
              </a:path>
            </a:pathLst>
          </a:custGeom>
          <a:blipFill>
            <a:blip r:embed="rId6"/>
            <a:stretch>
              <a:fillRect l="0" t="-11448" r="-16816" b="0"/>
            </a:stretch>
          </a:blipFill>
        </p:spPr>
      </p:sp>
      <p:sp>
        <p:nvSpPr>
          <p:cNvPr name="Freeform 13" id="13"/>
          <p:cNvSpPr/>
          <p:nvPr/>
        </p:nvSpPr>
        <p:spPr>
          <a:xfrm flipH="false" flipV="false" rot="0">
            <a:off x="1028700" y="7683020"/>
            <a:ext cx="12652698" cy="2166775"/>
          </a:xfrm>
          <a:custGeom>
            <a:avLst/>
            <a:gdLst/>
            <a:ahLst/>
            <a:cxnLst/>
            <a:rect r="r" b="b" t="t" l="l"/>
            <a:pathLst>
              <a:path h="2166775" w="12652698">
                <a:moveTo>
                  <a:pt x="0" y="0"/>
                </a:moveTo>
                <a:lnTo>
                  <a:pt x="12652698" y="0"/>
                </a:lnTo>
                <a:lnTo>
                  <a:pt x="12652698" y="2166774"/>
                </a:lnTo>
                <a:lnTo>
                  <a:pt x="0" y="2166774"/>
                </a:lnTo>
                <a:lnTo>
                  <a:pt x="0" y="0"/>
                </a:lnTo>
                <a:close/>
              </a:path>
            </a:pathLst>
          </a:custGeom>
          <a:blipFill>
            <a:blip r:embed="rId7"/>
            <a:stretch>
              <a:fillRect l="0" t="0" r="0" b="0"/>
            </a:stretch>
          </a:blipFill>
        </p:spPr>
      </p:sp>
      <p:sp>
        <p:nvSpPr>
          <p:cNvPr name="TextBox 14" id="14"/>
          <p:cNvSpPr txBox="true"/>
          <p:nvPr/>
        </p:nvSpPr>
        <p:spPr>
          <a:xfrm rot="0">
            <a:off x="11899384" y="3909060"/>
            <a:ext cx="4158746" cy="679450"/>
          </a:xfrm>
          <a:prstGeom prst="rect">
            <a:avLst/>
          </a:prstGeom>
        </p:spPr>
        <p:txBody>
          <a:bodyPr anchor="t" rtlCol="false" tIns="0" lIns="0" bIns="0" rIns="0">
            <a:spAutoFit/>
          </a:bodyPr>
          <a:lstStyle/>
          <a:p>
            <a:pPr algn="just">
              <a:lnSpc>
                <a:spcPts val="5599"/>
              </a:lnSpc>
            </a:pPr>
            <a:r>
              <a:rPr lang="en-US" sz="3999" b="true">
                <a:solidFill>
                  <a:srgbClr val="FFFFFF"/>
                </a:solidFill>
                <a:latin typeface="Canva Sans Bold"/>
                <a:ea typeface="Canva Sans Bold"/>
                <a:cs typeface="Canva Sans Bold"/>
                <a:sym typeface="Canva Sans Bold"/>
              </a:rPr>
              <a:t>Customer Table</a:t>
            </a:r>
          </a:p>
        </p:txBody>
      </p:sp>
      <p:sp>
        <p:nvSpPr>
          <p:cNvPr name="Freeform 15" id="15"/>
          <p:cNvSpPr/>
          <p:nvPr/>
        </p:nvSpPr>
        <p:spPr>
          <a:xfrm flipH="false" flipV="false" rot="-6120761">
            <a:off x="9007131" y="2860227"/>
            <a:ext cx="1030903" cy="4114800"/>
          </a:xfrm>
          <a:custGeom>
            <a:avLst/>
            <a:gdLst/>
            <a:ahLst/>
            <a:cxnLst/>
            <a:rect r="r" b="b" t="t" l="l"/>
            <a:pathLst>
              <a:path h="4114800" w="1030903">
                <a:moveTo>
                  <a:pt x="0" y="0"/>
                </a:moveTo>
                <a:lnTo>
                  <a:pt x="1030903" y="0"/>
                </a:lnTo>
                <a:lnTo>
                  <a:pt x="103090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true" flipV="false" rot="-6120761">
            <a:off x="10748175" y="4815133"/>
            <a:ext cx="1030903" cy="4114800"/>
          </a:xfrm>
          <a:custGeom>
            <a:avLst/>
            <a:gdLst/>
            <a:ahLst/>
            <a:cxnLst/>
            <a:rect r="r" b="b" t="t" l="l"/>
            <a:pathLst>
              <a:path h="4114800" w="1030903">
                <a:moveTo>
                  <a:pt x="1030903" y="0"/>
                </a:moveTo>
                <a:lnTo>
                  <a:pt x="0" y="0"/>
                </a:lnTo>
                <a:lnTo>
                  <a:pt x="0" y="4114800"/>
                </a:lnTo>
                <a:lnTo>
                  <a:pt x="1030903" y="4114800"/>
                </a:lnTo>
                <a:lnTo>
                  <a:pt x="1030903"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13681398" y="5993398"/>
            <a:ext cx="4158746" cy="679450"/>
          </a:xfrm>
          <a:prstGeom prst="rect">
            <a:avLst/>
          </a:prstGeom>
        </p:spPr>
        <p:txBody>
          <a:bodyPr anchor="t" rtlCol="false" tIns="0" lIns="0" bIns="0" rIns="0">
            <a:spAutoFit/>
          </a:bodyPr>
          <a:lstStyle/>
          <a:p>
            <a:pPr algn="just">
              <a:lnSpc>
                <a:spcPts val="5599"/>
              </a:lnSpc>
            </a:pPr>
            <a:r>
              <a:rPr lang="en-US" sz="3999" b="true">
                <a:solidFill>
                  <a:srgbClr val="FFFFFF"/>
                </a:solidFill>
                <a:latin typeface="Canva Sans Bold"/>
                <a:ea typeface="Canva Sans Bold"/>
                <a:cs typeface="Canva Sans Bold"/>
                <a:sym typeface="Canva Sans Bold"/>
              </a:rPr>
              <a:t>Inserted Data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700000">
            <a:off x="2457256" y="-750682"/>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2700000">
            <a:off x="2609656" y="-598282"/>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335980" y="1238968"/>
            <a:ext cx="1589048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Bold"/>
                <a:ea typeface="Montserrat Bold"/>
                <a:cs typeface="Montserrat Bold"/>
                <a:sym typeface="Montserrat Bold"/>
              </a:rPr>
              <a:t>DATA REQUIREMENTS &amp; DISCOVERY</a:t>
            </a:r>
          </a:p>
        </p:txBody>
      </p:sp>
      <p:sp>
        <p:nvSpPr>
          <p:cNvPr name="Freeform 5" id="5"/>
          <p:cNvSpPr/>
          <p:nvPr/>
        </p:nvSpPr>
        <p:spPr>
          <a:xfrm flipH="false" flipV="false" rot="2700000">
            <a:off x="2302376" y="-791568"/>
            <a:ext cx="6149853" cy="6149853"/>
          </a:xfrm>
          <a:custGeom>
            <a:avLst/>
            <a:gdLst/>
            <a:ahLst/>
            <a:cxnLst/>
            <a:rect r="r" b="b" t="t" l="l"/>
            <a:pathLst>
              <a:path h="6149853" w="6149853">
                <a:moveTo>
                  <a:pt x="0" y="0"/>
                </a:moveTo>
                <a:lnTo>
                  <a:pt x="6149853" y="0"/>
                </a:lnTo>
                <a:lnTo>
                  <a:pt x="6149853"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85338" y="0"/>
            <a:ext cx="19008530" cy="11880331"/>
          </a:xfrm>
          <a:custGeom>
            <a:avLst/>
            <a:gdLst/>
            <a:ahLst/>
            <a:cxnLst/>
            <a:rect r="r" b="b" t="t" l="l"/>
            <a:pathLst>
              <a:path h="11880331" w="19008530">
                <a:moveTo>
                  <a:pt x="0" y="0"/>
                </a:moveTo>
                <a:lnTo>
                  <a:pt x="19008530" y="0"/>
                </a:lnTo>
                <a:lnTo>
                  <a:pt x="19008530" y="11880331"/>
                </a:lnTo>
                <a:lnTo>
                  <a:pt x="0" y="11880331"/>
                </a:lnTo>
                <a:lnTo>
                  <a:pt x="0" y="0"/>
                </a:lnTo>
                <a:close/>
              </a:path>
            </a:pathLst>
          </a:custGeom>
          <a:blipFill>
            <a:blip r:embed="rId5"/>
            <a:stretch>
              <a:fillRect l="0" t="0" r="0" b="0"/>
            </a:stretch>
          </a:blipFill>
        </p:spPr>
      </p:sp>
      <p:grpSp>
        <p:nvGrpSpPr>
          <p:cNvPr name="Group 7" id="7"/>
          <p:cNvGrpSpPr/>
          <p:nvPr/>
        </p:nvGrpSpPr>
        <p:grpSpPr>
          <a:xfrm rot="0">
            <a:off x="-15091173" y="-3909811"/>
            <a:ext cx="33914365" cy="15790143"/>
            <a:chOff x="0" y="0"/>
            <a:chExt cx="8932178" cy="4158721"/>
          </a:xfrm>
        </p:grpSpPr>
        <p:sp>
          <p:nvSpPr>
            <p:cNvPr name="Freeform 8" id="8"/>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46810"/>
                  </a:srgbClr>
                </a:gs>
                <a:gs pos="66667">
                  <a:srgbClr val="283E51">
                    <a:alpha val="62000"/>
                  </a:srgbClr>
                </a:gs>
                <a:gs pos="100000">
                  <a:srgbClr val="122737">
                    <a:alpha val="62000"/>
                  </a:srgbClr>
                </a:gs>
              </a:gsLst>
              <a:lin ang="0"/>
            </a:gradFill>
          </p:spPr>
        </p:sp>
        <p:sp>
          <p:nvSpPr>
            <p:cNvPr name="TextBox 9" id="9"/>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914400"/>
            <a:ext cx="16987766" cy="1044390"/>
          </a:xfrm>
          <a:prstGeom prst="rect">
            <a:avLst/>
          </a:prstGeom>
        </p:spPr>
        <p:txBody>
          <a:bodyPr anchor="t" rtlCol="false" tIns="0" lIns="0" bIns="0" rIns="0">
            <a:spAutoFit/>
          </a:bodyPr>
          <a:lstStyle/>
          <a:p>
            <a:pPr algn="just">
              <a:lnSpc>
                <a:spcPts val="8585"/>
              </a:lnSpc>
            </a:pPr>
            <a:r>
              <a:rPr lang="en-US" b="true" sz="6132">
                <a:solidFill>
                  <a:srgbClr val="FFFFFF"/>
                </a:solidFill>
                <a:latin typeface="Montserrat Bold"/>
                <a:ea typeface="Montserrat Bold"/>
                <a:cs typeface="Montserrat Bold"/>
                <a:sym typeface="Montserrat Bold"/>
              </a:rPr>
              <a:t>SQL IMPLEMENTATION | TABLES</a:t>
            </a:r>
          </a:p>
        </p:txBody>
      </p:sp>
      <p:sp>
        <p:nvSpPr>
          <p:cNvPr name="Freeform 11" id="11"/>
          <p:cNvSpPr/>
          <p:nvPr/>
        </p:nvSpPr>
        <p:spPr>
          <a:xfrm flipH="false" flipV="false" rot="2700000">
            <a:off x="2302376" y="-791568"/>
            <a:ext cx="6149853" cy="6149853"/>
          </a:xfrm>
          <a:custGeom>
            <a:avLst/>
            <a:gdLst/>
            <a:ahLst/>
            <a:cxnLst/>
            <a:rect r="r" b="b" t="t" l="l"/>
            <a:pathLst>
              <a:path h="6149853" w="6149853">
                <a:moveTo>
                  <a:pt x="0" y="0"/>
                </a:moveTo>
                <a:lnTo>
                  <a:pt x="6149853" y="0"/>
                </a:lnTo>
                <a:lnTo>
                  <a:pt x="6149853" y="6149853"/>
                </a:lnTo>
                <a:lnTo>
                  <a:pt x="0" y="6149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8100000">
            <a:off x="-2897368" y="2820177"/>
            <a:ext cx="3252461" cy="3252461"/>
          </a:xfrm>
          <a:custGeom>
            <a:avLst/>
            <a:gdLst/>
            <a:ahLst/>
            <a:cxnLst/>
            <a:rect r="r" b="b" t="t" l="l"/>
            <a:pathLst>
              <a:path h="3252461" w="3252461">
                <a:moveTo>
                  <a:pt x="0" y="0"/>
                </a:moveTo>
                <a:lnTo>
                  <a:pt x="3252461" y="0"/>
                </a:lnTo>
                <a:lnTo>
                  <a:pt x="3252461" y="3252461"/>
                </a:lnTo>
                <a:lnTo>
                  <a:pt x="0" y="325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724718" y="4026037"/>
            <a:ext cx="3861127"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Product Table</a:t>
            </a:r>
          </a:p>
        </p:txBody>
      </p:sp>
      <p:sp>
        <p:nvSpPr>
          <p:cNvPr name="TextBox 14" id="14"/>
          <p:cNvSpPr txBox="true"/>
          <p:nvPr/>
        </p:nvSpPr>
        <p:spPr>
          <a:xfrm rot="0">
            <a:off x="1724718" y="4959546"/>
            <a:ext cx="7277991"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Customer_Orders Table</a:t>
            </a:r>
          </a:p>
        </p:txBody>
      </p:sp>
      <p:sp>
        <p:nvSpPr>
          <p:cNvPr name="TextBox 15" id="15"/>
          <p:cNvSpPr txBox="true"/>
          <p:nvPr/>
        </p:nvSpPr>
        <p:spPr>
          <a:xfrm rot="0">
            <a:off x="1724718" y="6053190"/>
            <a:ext cx="7277991"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Order_Product Table</a:t>
            </a:r>
          </a:p>
        </p:txBody>
      </p:sp>
      <p:sp>
        <p:nvSpPr>
          <p:cNvPr name="TextBox 16" id="16"/>
          <p:cNvSpPr txBox="true"/>
          <p:nvPr/>
        </p:nvSpPr>
        <p:spPr>
          <a:xfrm rot="0">
            <a:off x="1751897" y="7145100"/>
            <a:ext cx="7277991"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Retailer Table</a:t>
            </a:r>
          </a:p>
        </p:txBody>
      </p:sp>
      <p:sp>
        <p:nvSpPr>
          <p:cNvPr name="TextBox 17" id="17"/>
          <p:cNvSpPr txBox="true"/>
          <p:nvPr/>
        </p:nvSpPr>
        <p:spPr>
          <a:xfrm rot="0">
            <a:off x="12226571" y="6211591"/>
            <a:ext cx="7277991"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Store Table</a:t>
            </a:r>
          </a:p>
        </p:txBody>
      </p:sp>
      <p:sp>
        <p:nvSpPr>
          <p:cNvPr name="TextBox 18" id="18"/>
          <p:cNvSpPr txBox="true"/>
          <p:nvPr/>
        </p:nvSpPr>
        <p:spPr>
          <a:xfrm rot="0">
            <a:off x="11750380" y="4959546"/>
            <a:ext cx="7277991"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Wishlist Table</a:t>
            </a:r>
          </a:p>
        </p:txBody>
      </p:sp>
      <p:sp>
        <p:nvSpPr>
          <p:cNvPr name="TextBox 19" id="19"/>
          <p:cNvSpPr txBox="true"/>
          <p:nvPr/>
        </p:nvSpPr>
        <p:spPr>
          <a:xfrm rot="0">
            <a:off x="12434904" y="3952640"/>
            <a:ext cx="7277991"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Filter Table</a:t>
            </a:r>
          </a:p>
        </p:txBody>
      </p:sp>
      <p:sp>
        <p:nvSpPr>
          <p:cNvPr name="Freeform 20" id="20"/>
          <p:cNvSpPr/>
          <p:nvPr/>
        </p:nvSpPr>
        <p:spPr>
          <a:xfrm flipH="false" flipV="false" rot="-8100000">
            <a:off x="-2742488" y="3833753"/>
            <a:ext cx="3252461" cy="3252461"/>
          </a:xfrm>
          <a:custGeom>
            <a:avLst/>
            <a:gdLst/>
            <a:ahLst/>
            <a:cxnLst/>
            <a:rect r="r" b="b" t="t" l="l"/>
            <a:pathLst>
              <a:path h="3252461" w="3252461">
                <a:moveTo>
                  <a:pt x="0" y="0"/>
                </a:moveTo>
                <a:lnTo>
                  <a:pt x="3252461" y="0"/>
                </a:lnTo>
                <a:lnTo>
                  <a:pt x="3252461" y="3252461"/>
                </a:lnTo>
                <a:lnTo>
                  <a:pt x="0" y="325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1" id="21"/>
          <p:cNvSpPr/>
          <p:nvPr/>
        </p:nvSpPr>
        <p:spPr>
          <a:xfrm flipH="false" flipV="false" rot="-8100000">
            <a:off x="-2742488" y="4847329"/>
            <a:ext cx="3252461" cy="3252461"/>
          </a:xfrm>
          <a:custGeom>
            <a:avLst/>
            <a:gdLst/>
            <a:ahLst/>
            <a:cxnLst/>
            <a:rect r="r" b="b" t="t" l="l"/>
            <a:pathLst>
              <a:path h="3252461" w="3252461">
                <a:moveTo>
                  <a:pt x="0" y="0"/>
                </a:moveTo>
                <a:lnTo>
                  <a:pt x="3252461" y="0"/>
                </a:lnTo>
                <a:lnTo>
                  <a:pt x="3252461" y="3252461"/>
                </a:lnTo>
                <a:lnTo>
                  <a:pt x="0" y="325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8100000">
            <a:off x="-2590088" y="6053523"/>
            <a:ext cx="3252461" cy="3252461"/>
          </a:xfrm>
          <a:custGeom>
            <a:avLst/>
            <a:gdLst/>
            <a:ahLst/>
            <a:cxnLst/>
            <a:rect r="r" b="b" t="t" l="l"/>
            <a:pathLst>
              <a:path h="3252461" w="3252461">
                <a:moveTo>
                  <a:pt x="0" y="0"/>
                </a:moveTo>
                <a:lnTo>
                  <a:pt x="3252461" y="0"/>
                </a:lnTo>
                <a:lnTo>
                  <a:pt x="3252461" y="3252461"/>
                </a:lnTo>
                <a:lnTo>
                  <a:pt x="0" y="325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2700000">
            <a:off x="17196961" y="2746780"/>
            <a:ext cx="3252461" cy="3252461"/>
          </a:xfrm>
          <a:custGeom>
            <a:avLst/>
            <a:gdLst/>
            <a:ahLst/>
            <a:cxnLst/>
            <a:rect r="r" b="b" t="t" l="l"/>
            <a:pathLst>
              <a:path h="3252461" w="3252461">
                <a:moveTo>
                  <a:pt x="0" y="0"/>
                </a:moveTo>
                <a:lnTo>
                  <a:pt x="3252461" y="0"/>
                </a:lnTo>
                <a:lnTo>
                  <a:pt x="3252461" y="3252461"/>
                </a:lnTo>
                <a:lnTo>
                  <a:pt x="0" y="325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4" id="24"/>
          <p:cNvSpPr/>
          <p:nvPr/>
        </p:nvSpPr>
        <p:spPr>
          <a:xfrm flipH="false" flipV="false" rot="2700000">
            <a:off x="17196961" y="3974047"/>
            <a:ext cx="3252461" cy="3252461"/>
          </a:xfrm>
          <a:custGeom>
            <a:avLst/>
            <a:gdLst/>
            <a:ahLst/>
            <a:cxnLst/>
            <a:rect r="r" b="b" t="t" l="l"/>
            <a:pathLst>
              <a:path h="3252461" w="3252461">
                <a:moveTo>
                  <a:pt x="0" y="0"/>
                </a:moveTo>
                <a:lnTo>
                  <a:pt x="3252461" y="0"/>
                </a:lnTo>
                <a:lnTo>
                  <a:pt x="3252461" y="3252461"/>
                </a:lnTo>
                <a:lnTo>
                  <a:pt x="0" y="325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2700000">
            <a:off x="17196961" y="5005731"/>
            <a:ext cx="3252461" cy="3252461"/>
          </a:xfrm>
          <a:custGeom>
            <a:avLst/>
            <a:gdLst/>
            <a:ahLst/>
            <a:cxnLst/>
            <a:rect r="r" b="b" t="t" l="l"/>
            <a:pathLst>
              <a:path h="3252461" w="3252461">
                <a:moveTo>
                  <a:pt x="0" y="0"/>
                </a:moveTo>
                <a:lnTo>
                  <a:pt x="3252461" y="0"/>
                </a:lnTo>
                <a:lnTo>
                  <a:pt x="3252461" y="3252461"/>
                </a:lnTo>
                <a:lnTo>
                  <a:pt x="0" y="325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6" id="26"/>
          <p:cNvSpPr txBox="true"/>
          <p:nvPr/>
        </p:nvSpPr>
        <p:spPr>
          <a:xfrm rot="0">
            <a:off x="11542047" y="7339451"/>
            <a:ext cx="4323519"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Shipping Table</a:t>
            </a:r>
          </a:p>
        </p:txBody>
      </p:sp>
      <p:sp>
        <p:nvSpPr>
          <p:cNvPr name="Freeform 27" id="27"/>
          <p:cNvSpPr/>
          <p:nvPr/>
        </p:nvSpPr>
        <p:spPr>
          <a:xfrm flipH="false" flipV="false" rot="2700000">
            <a:off x="17196961" y="6133590"/>
            <a:ext cx="3252461" cy="3252461"/>
          </a:xfrm>
          <a:custGeom>
            <a:avLst/>
            <a:gdLst/>
            <a:ahLst/>
            <a:cxnLst/>
            <a:rect r="r" b="b" t="t" l="l"/>
            <a:pathLst>
              <a:path h="3252461" w="3252461">
                <a:moveTo>
                  <a:pt x="0" y="0"/>
                </a:moveTo>
                <a:lnTo>
                  <a:pt x="3252461" y="0"/>
                </a:lnTo>
                <a:lnTo>
                  <a:pt x="3252461" y="3252461"/>
                </a:lnTo>
                <a:lnTo>
                  <a:pt x="0" y="325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120935" y="-3731240"/>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446330"/>
            <a:ext cx="6149853" cy="6149853"/>
          </a:xfrm>
          <a:custGeom>
            <a:avLst/>
            <a:gdLst/>
            <a:ahLst/>
            <a:cxnLst/>
            <a:rect r="r" b="b" t="t" l="l"/>
            <a:pathLst>
              <a:path h="6149853" w="6149853">
                <a:moveTo>
                  <a:pt x="0" y="0"/>
                </a:moveTo>
                <a:lnTo>
                  <a:pt x="6149853" y="0"/>
                </a:lnTo>
                <a:lnTo>
                  <a:pt x="6149853" y="6149853"/>
                </a:lnTo>
                <a:lnTo>
                  <a:pt x="0" y="61498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061383" y="4163831"/>
            <a:ext cx="13758588" cy="3769738"/>
          </a:xfrm>
          <a:custGeom>
            <a:avLst/>
            <a:gdLst/>
            <a:ahLst/>
            <a:cxnLst/>
            <a:rect r="r" b="b" t="t" l="l"/>
            <a:pathLst>
              <a:path h="3769738" w="13758588">
                <a:moveTo>
                  <a:pt x="0" y="0"/>
                </a:moveTo>
                <a:lnTo>
                  <a:pt x="13758588" y="0"/>
                </a:lnTo>
                <a:lnTo>
                  <a:pt x="13758588" y="3769739"/>
                </a:lnTo>
                <a:lnTo>
                  <a:pt x="0" y="3769739"/>
                </a:lnTo>
                <a:lnTo>
                  <a:pt x="0" y="0"/>
                </a:lnTo>
                <a:close/>
              </a:path>
            </a:pathLst>
          </a:custGeom>
          <a:blipFill>
            <a:blip r:embed="rId6"/>
            <a:stretch>
              <a:fillRect l="0" t="0" r="0" b="0"/>
            </a:stretch>
          </a:blipFill>
        </p:spPr>
      </p:sp>
      <p:sp>
        <p:nvSpPr>
          <p:cNvPr name="TextBox 8" id="8"/>
          <p:cNvSpPr txBox="true"/>
          <p:nvPr/>
        </p:nvSpPr>
        <p:spPr>
          <a:xfrm rot="0">
            <a:off x="446794" y="616585"/>
            <a:ext cx="16987766" cy="738505"/>
          </a:xfrm>
          <a:prstGeom prst="rect">
            <a:avLst/>
          </a:prstGeom>
        </p:spPr>
        <p:txBody>
          <a:bodyPr anchor="t" rtlCol="false" tIns="0" lIns="0" bIns="0" rIns="0">
            <a:spAutoFit/>
          </a:bodyPr>
          <a:lstStyle/>
          <a:p>
            <a:pPr algn="just">
              <a:lnSpc>
                <a:spcPts val="6019"/>
              </a:lnSpc>
            </a:pPr>
            <a:r>
              <a:rPr lang="en-US" b="true" sz="4299">
                <a:solidFill>
                  <a:srgbClr val="FFFFFF"/>
                </a:solidFill>
                <a:latin typeface="Montserrat Bold"/>
                <a:ea typeface="Montserrat Bold"/>
                <a:cs typeface="Montserrat Bold"/>
                <a:sym typeface="Montserrat Bold"/>
              </a:rPr>
              <a:t>CUSTOMER ENGAGMENT &amp; INTEREST (JOVY)</a:t>
            </a:r>
          </a:p>
        </p:txBody>
      </p:sp>
      <p:sp>
        <p:nvSpPr>
          <p:cNvPr name="TextBox 9" id="9"/>
          <p:cNvSpPr txBox="true"/>
          <p:nvPr/>
        </p:nvSpPr>
        <p:spPr>
          <a:xfrm rot="0">
            <a:off x="3707933" y="2209744"/>
            <a:ext cx="10465488" cy="755015"/>
          </a:xfrm>
          <a:prstGeom prst="rect">
            <a:avLst/>
          </a:prstGeom>
        </p:spPr>
        <p:txBody>
          <a:bodyPr anchor="t" rtlCol="false" tIns="0" lIns="0" bIns="0" rIns="0">
            <a:spAutoFit/>
          </a:bodyPr>
          <a:lstStyle/>
          <a:p>
            <a:pPr algn="ctr">
              <a:lnSpc>
                <a:spcPts val="6159"/>
              </a:lnSpc>
            </a:pPr>
            <a:r>
              <a:rPr lang="en-US" sz="4399" b="true">
                <a:solidFill>
                  <a:srgbClr val="FFFFFF"/>
                </a:solidFill>
                <a:latin typeface="Canva Sans Bold"/>
                <a:ea typeface="Canva Sans Bold"/>
                <a:cs typeface="Canva Sans Bold"/>
                <a:sym typeface="Canva Sans Bold"/>
              </a:rPr>
              <a:t>Customer wishlists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120935" y="-3731240"/>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446330"/>
            <a:ext cx="6149853" cy="6149853"/>
          </a:xfrm>
          <a:custGeom>
            <a:avLst/>
            <a:gdLst/>
            <a:ahLst/>
            <a:cxnLst/>
            <a:rect r="r" b="b" t="t" l="l"/>
            <a:pathLst>
              <a:path h="6149853" w="6149853">
                <a:moveTo>
                  <a:pt x="0" y="0"/>
                </a:moveTo>
                <a:lnTo>
                  <a:pt x="6149853" y="0"/>
                </a:lnTo>
                <a:lnTo>
                  <a:pt x="6149853" y="6149853"/>
                </a:lnTo>
                <a:lnTo>
                  <a:pt x="0" y="61498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81118" y="4682825"/>
            <a:ext cx="15525763" cy="3939662"/>
          </a:xfrm>
          <a:custGeom>
            <a:avLst/>
            <a:gdLst/>
            <a:ahLst/>
            <a:cxnLst/>
            <a:rect r="r" b="b" t="t" l="l"/>
            <a:pathLst>
              <a:path h="3939662" w="15525763">
                <a:moveTo>
                  <a:pt x="0" y="0"/>
                </a:moveTo>
                <a:lnTo>
                  <a:pt x="15525764" y="0"/>
                </a:lnTo>
                <a:lnTo>
                  <a:pt x="15525764" y="3939663"/>
                </a:lnTo>
                <a:lnTo>
                  <a:pt x="0" y="3939663"/>
                </a:lnTo>
                <a:lnTo>
                  <a:pt x="0" y="0"/>
                </a:lnTo>
                <a:close/>
              </a:path>
            </a:pathLst>
          </a:custGeom>
          <a:blipFill>
            <a:blip r:embed="rId6"/>
            <a:stretch>
              <a:fillRect l="0" t="0" r="0" b="0"/>
            </a:stretch>
          </a:blipFill>
        </p:spPr>
      </p:sp>
      <p:sp>
        <p:nvSpPr>
          <p:cNvPr name="TextBox 8" id="8"/>
          <p:cNvSpPr txBox="true"/>
          <p:nvPr/>
        </p:nvSpPr>
        <p:spPr>
          <a:xfrm rot="0">
            <a:off x="446794" y="616585"/>
            <a:ext cx="16987766" cy="738505"/>
          </a:xfrm>
          <a:prstGeom prst="rect">
            <a:avLst/>
          </a:prstGeom>
        </p:spPr>
        <p:txBody>
          <a:bodyPr anchor="t" rtlCol="false" tIns="0" lIns="0" bIns="0" rIns="0">
            <a:spAutoFit/>
          </a:bodyPr>
          <a:lstStyle/>
          <a:p>
            <a:pPr algn="just">
              <a:lnSpc>
                <a:spcPts val="6019"/>
              </a:lnSpc>
            </a:pPr>
            <a:r>
              <a:rPr lang="en-US" b="true" sz="4299">
                <a:solidFill>
                  <a:srgbClr val="FFFFFF"/>
                </a:solidFill>
                <a:latin typeface="Montserrat Bold"/>
                <a:ea typeface="Montserrat Bold"/>
                <a:cs typeface="Montserrat Bold"/>
                <a:sym typeface="Montserrat Bold"/>
              </a:rPr>
              <a:t>CUSTOMER ENGAGMENT &amp; INTEREST (JOVY)</a:t>
            </a:r>
          </a:p>
        </p:txBody>
      </p:sp>
      <p:sp>
        <p:nvSpPr>
          <p:cNvPr name="TextBox 9" id="9"/>
          <p:cNvSpPr txBox="true"/>
          <p:nvPr/>
        </p:nvSpPr>
        <p:spPr>
          <a:xfrm rot="0">
            <a:off x="6793812" y="2822838"/>
            <a:ext cx="3861127"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Query Results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120935" y="-3731240"/>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446330"/>
            <a:ext cx="6149853" cy="6149853"/>
          </a:xfrm>
          <a:custGeom>
            <a:avLst/>
            <a:gdLst/>
            <a:ahLst/>
            <a:cxnLst/>
            <a:rect r="r" b="b" t="t" l="l"/>
            <a:pathLst>
              <a:path h="6149853" w="6149853">
                <a:moveTo>
                  <a:pt x="0" y="0"/>
                </a:moveTo>
                <a:lnTo>
                  <a:pt x="6149853" y="0"/>
                </a:lnTo>
                <a:lnTo>
                  <a:pt x="6149853" y="6149853"/>
                </a:lnTo>
                <a:lnTo>
                  <a:pt x="0" y="61498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332349" y="3907735"/>
            <a:ext cx="11623302" cy="5094469"/>
          </a:xfrm>
          <a:custGeom>
            <a:avLst/>
            <a:gdLst/>
            <a:ahLst/>
            <a:cxnLst/>
            <a:rect r="r" b="b" t="t" l="l"/>
            <a:pathLst>
              <a:path h="5094469" w="11623302">
                <a:moveTo>
                  <a:pt x="0" y="0"/>
                </a:moveTo>
                <a:lnTo>
                  <a:pt x="11623302" y="0"/>
                </a:lnTo>
                <a:lnTo>
                  <a:pt x="11623302" y="5094468"/>
                </a:lnTo>
                <a:lnTo>
                  <a:pt x="0" y="5094468"/>
                </a:lnTo>
                <a:lnTo>
                  <a:pt x="0" y="0"/>
                </a:lnTo>
                <a:close/>
              </a:path>
            </a:pathLst>
          </a:custGeom>
          <a:blipFill>
            <a:blip r:embed="rId6"/>
            <a:stretch>
              <a:fillRect l="0" t="0" r="0" b="0"/>
            </a:stretch>
          </a:blipFill>
        </p:spPr>
      </p:sp>
      <p:sp>
        <p:nvSpPr>
          <p:cNvPr name="TextBox 8" id="8"/>
          <p:cNvSpPr txBox="true"/>
          <p:nvPr/>
        </p:nvSpPr>
        <p:spPr>
          <a:xfrm rot="0">
            <a:off x="446794" y="616585"/>
            <a:ext cx="16987766" cy="738505"/>
          </a:xfrm>
          <a:prstGeom prst="rect">
            <a:avLst/>
          </a:prstGeom>
        </p:spPr>
        <p:txBody>
          <a:bodyPr anchor="t" rtlCol="false" tIns="0" lIns="0" bIns="0" rIns="0">
            <a:spAutoFit/>
          </a:bodyPr>
          <a:lstStyle/>
          <a:p>
            <a:pPr algn="just">
              <a:lnSpc>
                <a:spcPts val="6019"/>
              </a:lnSpc>
            </a:pPr>
            <a:r>
              <a:rPr lang="en-US" b="true" sz="4299">
                <a:solidFill>
                  <a:srgbClr val="FFFFFF"/>
                </a:solidFill>
                <a:latin typeface="Montserrat Bold"/>
                <a:ea typeface="Montserrat Bold"/>
                <a:cs typeface="Montserrat Bold"/>
                <a:sym typeface="Montserrat Bold"/>
              </a:rPr>
              <a:t>CUSTOMER ENGAGMENT &amp; INTEREST (JOVY)</a:t>
            </a:r>
          </a:p>
        </p:txBody>
      </p:sp>
      <p:sp>
        <p:nvSpPr>
          <p:cNvPr name="TextBox 9" id="9"/>
          <p:cNvSpPr txBox="true"/>
          <p:nvPr/>
        </p:nvSpPr>
        <p:spPr>
          <a:xfrm rot="0">
            <a:off x="3707933" y="2209744"/>
            <a:ext cx="10465488" cy="755015"/>
          </a:xfrm>
          <a:prstGeom prst="rect">
            <a:avLst/>
          </a:prstGeom>
        </p:spPr>
        <p:txBody>
          <a:bodyPr anchor="t" rtlCol="false" tIns="0" lIns="0" bIns="0" rIns="0">
            <a:spAutoFit/>
          </a:bodyPr>
          <a:lstStyle/>
          <a:p>
            <a:pPr algn="ctr">
              <a:lnSpc>
                <a:spcPts val="6159"/>
              </a:lnSpc>
            </a:pPr>
            <a:r>
              <a:rPr lang="en-US" sz="4399" b="true">
                <a:solidFill>
                  <a:srgbClr val="FFFFFF"/>
                </a:solidFill>
                <a:latin typeface="Canva Sans Bold"/>
                <a:ea typeface="Canva Sans Bold"/>
                <a:cs typeface="Canva Sans Bold"/>
                <a:sym typeface="Canva Sans Bold"/>
              </a:rPr>
              <a:t>Wishlist Popularity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120935" y="-3731240"/>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446330"/>
            <a:ext cx="6149853" cy="6149853"/>
          </a:xfrm>
          <a:custGeom>
            <a:avLst/>
            <a:gdLst/>
            <a:ahLst/>
            <a:cxnLst/>
            <a:rect r="r" b="b" t="t" l="l"/>
            <a:pathLst>
              <a:path h="6149853" w="6149853">
                <a:moveTo>
                  <a:pt x="0" y="0"/>
                </a:moveTo>
                <a:lnTo>
                  <a:pt x="6149853" y="0"/>
                </a:lnTo>
                <a:lnTo>
                  <a:pt x="6149853" y="6149853"/>
                </a:lnTo>
                <a:lnTo>
                  <a:pt x="0" y="61498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395171" y="4163831"/>
            <a:ext cx="11091011" cy="5387063"/>
          </a:xfrm>
          <a:custGeom>
            <a:avLst/>
            <a:gdLst/>
            <a:ahLst/>
            <a:cxnLst/>
            <a:rect r="r" b="b" t="t" l="l"/>
            <a:pathLst>
              <a:path h="5387063" w="11091011">
                <a:moveTo>
                  <a:pt x="0" y="0"/>
                </a:moveTo>
                <a:lnTo>
                  <a:pt x="11091012" y="0"/>
                </a:lnTo>
                <a:lnTo>
                  <a:pt x="11091012" y="5387063"/>
                </a:lnTo>
                <a:lnTo>
                  <a:pt x="0" y="5387063"/>
                </a:lnTo>
                <a:lnTo>
                  <a:pt x="0" y="0"/>
                </a:lnTo>
                <a:close/>
              </a:path>
            </a:pathLst>
          </a:custGeom>
          <a:blipFill>
            <a:blip r:embed="rId6"/>
            <a:stretch>
              <a:fillRect l="0" t="0" r="0" b="0"/>
            </a:stretch>
          </a:blipFill>
        </p:spPr>
      </p:sp>
      <p:sp>
        <p:nvSpPr>
          <p:cNvPr name="TextBox 8" id="8"/>
          <p:cNvSpPr txBox="true"/>
          <p:nvPr/>
        </p:nvSpPr>
        <p:spPr>
          <a:xfrm rot="0">
            <a:off x="446794" y="616585"/>
            <a:ext cx="16987766" cy="738505"/>
          </a:xfrm>
          <a:prstGeom prst="rect">
            <a:avLst/>
          </a:prstGeom>
        </p:spPr>
        <p:txBody>
          <a:bodyPr anchor="t" rtlCol="false" tIns="0" lIns="0" bIns="0" rIns="0">
            <a:spAutoFit/>
          </a:bodyPr>
          <a:lstStyle/>
          <a:p>
            <a:pPr algn="just">
              <a:lnSpc>
                <a:spcPts val="6019"/>
              </a:lnSpc>
            </a:pPr>
            <a:r>
              <a:rPr lang="en-US" b="true" sz="4299">
                <a:solidFill>
                  <a:srgbClr val="FFFFFF"/>
                </a:solidFill>
                <a:latin typeface="Montserrat Bold"/>
                <a:ea typeface="Montserrat Bold"/>
                <a:cs typeface="Montserrat Bold"/>
                <a:sym typeface="Montserrat Bold"/>
              </a:rPr>
              <a:t>CUSTOMER ENGAGMENT &amp; INTEREST (JOVY)</a:t>
            </a:r>
          </a:p>
        </p:txBody>
      </p:sp>
      <p:sp>
        <p:nvSpPr>
          <p:cNvPr name="TextBox 9" id="9"/>
          <p:cNvSpPr txBox="true"/>
          <p:nvPr/>
        </p:nvSpPr>
        <p:spPr>
          <a:xfrm rot="0">
            <a:off x="6793812" y="2822838"/>
            <a:ext cx="3861127"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Query Results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120935" y="-3731240"/>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416568"/>
            <a:ext cx="6149853" cy="6149853"/>
          </a:xfrm>
          <a:custGeom>
            <a:avLst/>
            <a:gdLst/>
            <a:ahLst/>
            <a:cxnLst/>
            <a:rect r="r" b="b" t="t" l="l"/>
            <a:pathLst>
              <a:path h="6149853" w="6149853">
                <a:moveTo>
                  <a:pt x="0" y="0"/>
                </a:moveTo>
                <a:lnTo>
                  <a:pt x="6149853" y="0"/>
                </a:lnTo>
                <a:lnTo>
                  <a:pt x="6149853" y="6149853"/>
                </a:lnTo>
                <a:lnTo>
                  <a:pt x="0" y="61498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24361" y="4682825"/>
            <a:ext cx="15632632" cy="2113759"/>
          </a:xfrm>
          <a:custGeom>
            <a:avLst/>
            <a:gdLst/>
            <a:ahLst/>
            <a:cxnLst/>
            <a:rect r="r" b="b" t="t" l="l"/>
            <a:pathLst>
              <a:path h="2113759" w="15632632">
                <a:moveTo>
                  <a:pt x="0" y="0"/>
                </a:moveTo>
                <a:lnTo>
                  <a:pt x="15632632" y="0"/>
                </a:lnTo>
                <a:lnTo>
                  <a:pt x="15632632" y="2113759"/>
                </a:lnTo>
                <a:lnTo>
                  <a:pt x="0" y="2113759"/>
                </a:lnTo>
                <a:lnTo>
                  <a:pt x="0" y="0"/>
                </a:lnTo>
                <a:close/>
              </a:path>
            </a:pathLst>
          </a:custGeom>
          <a:blipFill>
            <a:blip r:embed="rId6"/>
            <a:stretch>
              <a:fillRect l="-1269" t="0" r="-128358" b="-1895"/>
            </a:stretch>
          </a:blipFill>
        </p:spPr>
      </p:sp>
      <p:sp>
        <p:nvSpPr>
          <p:cNvPr name="TextBox 8" id="8"/>
          <p:cNvSpPr txBox="true"/>
          <p:nvPr/>
        </p:nvSpPr>
        <p:spPr>
          <a:xfrm rot="0">
            <a:off x="446794" y="616585"/>
            <a:ext cx="16987766" cy="738505"/>
          </a:xfrm>
          <a:prstGeom prst="rect">
            <a:avLst/>
          </a:prstGeom>
        </p:spPr>
        <p:txBody>
          <a:bodyPr anchor="t" rtlCol="false" tIns="0" lIns="0" bIns="0" rIns="0">
            <a:spAutoFit/>
          </a:bodyPr>
          <a:lstStyle/>
          <a:p>
            <a:pPr algn="just">
              <a:lnSpc>
                <a:spcPts val="6019"/>
              </a:lnSpc>
            </a:pPr>
            <a:r>
              <a:rPr lang="en-US" b="true" sz="4299">
                <a:solidFill>
                  <a:srgbClr val="FFFFFF"/>
                </a:solidFill>
                <a:latin typeface="Montserrat Bold"/>
                <a:ea typeface="Montserrat Bold"/>
                <a:cs typeface="Montserrat Bold"/>
                <a:sym typeface="Montserrat Bold"/>
              </a:rPr>
              <a:t>SALES &amp; LOGISTICS OPERATIONS (EUKLID)</a:t>
            </a:r>
          </a:p>
        </p:txBody>
      </p:sp>
      <p:sp>
        <p:nvSpPr>
          <p:cNvPr name="TextBox 9" id="9"/>
          <p:cNvSpPr txBox="true"/>
          <p:nvPr/>
        </p:nvSpPr>
        <p:spPr>
          <a:xfrm rot="0">
            <a:off x="2944356" y="2627766"/>
            <a:ext cx="12399287" cy="1536065"/>
          </a:xfrm>
          <a:prstGeom prst="rect">
            <a:avLst/>
          </a:prstGeom>
        </p:spPr>
        <p:txBody>
          <a:bodyPr anchor="t" rtlCol="false" tIns="0" lIns="0" bIns="0" rIns="0">
            <a:spAutoFit/>
          </a:bodyPr>
          <a:lstStyle/>
          <a:p>
            <a:pPr algn="ctr">
              <a:lnSpc>
                <a:spcPts val="6159"/>
              </a:lnSpc>
            </a:pPr>
            <a:r>
              <a:rPr lang="en-US" sz="4399" b="true">
                <a:solidFill>
                  <a:srgbClr val="FFFFFF"/>
                </a:solidFill>
                <a:latin typeface="Canva Sans Bold"/>
                <a:ea typeface="Canva Sans Bold"/>
                <a:cs typeface="Canva Sans Bold"/>
                <a:sym typeface="Canva Sans Bold"/>
              </a:rPr>
              <a:t>All orders with customer name and shipping method</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120935" y="-3731240"/>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75500"/>
                  </a:srgbClr>
                </a:gs>
                <a:gs pos="66667">
                  <a:srgbClr val="283E51">
                    <a:alpha val="100000"/>
                  </a:srgbClr>
                </a:gs>
                <a:gs pos="100000">
                  <a:srgbClr val="122737">
                    <a:alpha val="100000"/>
                  </a:srgbClr>
                </a:gs>
              </a:gsLst>
              <a:lin ang="0"/>
            </a:gradFill>
          </p:spPr>
        </p:sp>
        <p:sp>
          <p:nvSpPr>
            <p:cNvPr name="TextBox 5" id="5"/>
            <p:cNvSpPr txBox="true"/>
            <p:nvPr/>
          </p:nvSpPr>
          <p:spPr>
            <a:xfrm>
              <a:off x="0" y="-85725"/>
              <a:ext cx="8932178" cy="4244446"/>
            </a:xfrm>
            <a:prstGeom prst="rect">
              <a:avLst/>
            </a:prstGeom>
          </p:spPr>
          <p:txBody>
            <a:bodyPr anchor="ctr" rtlCol="false" tIns="50800" lIns="50800" bIns="50800" rIns="50800"/>
            <a:lstStyle/>
            <a:p>
              <a:pPr algn="just" marL="0" indent="0" lvl="0">
                <a:lnSpc>
                  <a:spcPts val="6159"/>
                </a:lnSpc>
                <a:spcBef>
                  <a:spcPct val="0"/>
                </a:spcBef>
              </a:pPr>
            </a:p>
          </p:txBody>
        </p:sp>
      </p:grpSp>
      <p:sp>
        <p:nvSpPr>
          <p:cNvPr name="Freeform 6" id="6"/>
          <p:cNvSpPr/>
          <p:nvPr/>
        </p:nvSpPr>
        <p:spPr>
          <a:xfrm flipH="false" flipV="false" rot="2700000">
            <a:off x="1720471" y="-1416568"/>
            <a:ext cx="6149853" cy="6149853"/>
          </a:xfrm>
          <a:custGeom>
            <a:avLst/>
            <a:gdLst/>
            <a:ahLst/>
            <a:cxnLst/>
            <a:rect r="r" b="b" t="t" l="l"/>
            <a:pathLst>
              <a:path h="6149853" w="6149853">
                <a:moveTo>
                  <a:pt x="0" y="0"/>
                </a:moveTo>
                <a:lnTo>
                  <a:pt x="6149853" y="0"/>
                </a:lnTo>
                <a:lnTo>
                  <a:pt x="6149853" y="6149853"/>
                </a:lnTo>
                <a:lnTo>
                  <a:pt x="0" y="61498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804750" y="4682825"/>
            <a:ext cx="14678500" cy="3269493"/>
          </a:xfrm>
          <a:custGeom>
            <a:avLst/>
            <a:gdLst/>
            <a:ahLst/>
            <a:cxnLst/>
            <a:rect r="r" b="b" t="t" l="l"/>
            <a:pathLst>
              <a:path h="3269493" w="14678500">
                <a:moveTo>
                  <a:pt x="0" y="0"/>
                </a:moveTo>
                <a:lnTo>
                  <a:pt x="14678500" y="0"/>
                </a:lnTo>
                <a:lnTo>
                  <a:pt x="14678500" y="3269493"/>
                </a:lnTo>
                <a:lnTo>
                  <a:pt x="0" y="3269493"/>
                </a:lnTo>
                <a:lnTo>
                  <a:pt x="0" y="0"/>
                </a:lnTo>
                <a:close/>
              </a:path>
            </a:pathLst>
          </a:custGeom>
          <a:blipFill>
            <a:blip r:embed="rId6"/>
            <a:stretch>
              <a:fillRect l="0" t="-305" r="-121335" b="-305"/>
            </a:stretch>
          </a:blipFill>
        </p:spPr>
      </p:sp>
      <p:sp>
        <p:nvSpPr>
          <p:cNvPr name="TextBox 8" id="8"/>
          <p:cNvSpPr txBox="true"/>
          <p:nvPr/>
        </p:nvSpPr>
        <p:spPr>
          <a:xfrm rot="0">
            <a:off x="446794" y="616585"/>
            <a:ext cx="16987766" cy="738505"/>
          </a:xfrm>
          <a:prstGeom prst="rect">
            <a:avLst/>
          </a:prstGeom>
        </p:spPr>
        <p:txBody>
          <a:bodyPr anchor="t" rtlCol="false" tIns="0" lIns="0" bIns="0" rIns="0">
            <a:spAutoFit/>
          </a:bodyPr>
          <a:lstStyle/>
          <a:p>
            <a:pPr algn="just">
              <a:lnSpc>
                <a:spcPts val="6019"/>
              </a:lnSpc>
            </a:pPr>
            <a:r>
              <a:rPr lang="en-US" b="true" sz="4299">
                <a:solidFill>
                  <a:srgbClr val="FFFFFF"/>
                </a:solidFill>
                <a:latin typeface="Montserrat Bold"/>
                <a:ea typeface="Montserrat Bold"/>
                <a:cs typeface="Montserrat Bold"/>
                <a:sym typeface="Montserrat Bold"/>
              </a:rPr>
              <a:t>SALES &amp; LOGISTICS OPERATIONS (EUKLID)</a:t>
            </a:r>
          </a:p>
        </p:txBody>
      </p:sp>
      <p:sp>
        <p:nvSpPr>
          <p:cNvPr name="TextBox 9" id="9"/>
          <p:cNvSpPr txBox="true"/>
          <p:nvPr/>
        </p:nvSpPr>
        <p:spPr>
          <a:xfrm rot="0">
            <a:off x="7035156" y="2906652"/>
            <a:ext cx="3811042" cy="755015"/>
          </a:xfrm>
          <a:prstGeom prst="rect">
            <a:avLst/>
          </a:prstGeom>
        </p:spPr>
        <p:txBody>
          <a:bodyPr anchor="t" rtlCol="false" tIns="0" lIns="0" bIns="0" rIns="0">
            <a:spAutoFit/>
          </a:bodyPr>
          <a:lstStyle/>
          <a:p>
            <a:pPr algn="just" marL="0" indent="0" lvl="0">
              <a:lnSpc>
                <a:spcPts val="6159"/>
              </a:lnSpc>
              <a:spcBef>
                <a:spcPct val="0"/>
              </a:spcBef>
            </a:pPr>
            <a:r>
              <a:rPr lang="en-US" b="true" sz="4399" strike="noStrike" u="none">
                <a:solidFill>
                  <a:srgbClr val="FFFFFF"/>
                </a:solidFill>
                <a:latin typeface="Canva Sans Bold"/>
                <a:ea typeface="Canva Sans Bold"/>
                <a:cs typeface="Canva Sans Bold"/>
                <a:sym typeface="Canva Sans Bold"/>
              </a:rPr>
              <a:t>Query Results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120935" y="-3731240"/>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416568"/>
            <a:ext cx="6149853" cy="6149853"/>
          </a:xfrm>
          <a:custGeom>
            <a:avLst/>
            <a:gdLst/>
            <a:ahLst/>
            <a:cxnLst/>
            <a:rect r="r" b="b" t="t" l="l"/>
            <a:pathLst>
              <a:path h="6149853" w="6149853">
                <a:moveTo>
                  <a:pt x="0" y="0"/>
                </a:moveTo>
                <a:lnTo>
                  <a:pt x="6149853" y="0"/>
                </a:lnTo>
                <a:lnTo>
                  <a:pt x="6149853" y="6149853"/>
                </a:lnTo>
                <a:lnTo>
                  <a:pt x="0" y="61498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800330" y="4682825"/>
            <a:ext cx="12687341" cy="3107678"/>
          </a:xfrm>
          <a:custGeom>
            <a:avLst/>
            <a:gdLst/>
            <a:ahLst/>
            <a:cxnLst/>
            <a:rect r="r" b="b" t="t" l="l"/>
            <a:pathLst>
              <a:path h="3107678" w="12687341">
                <a:moveTo>
                  <a:pt x="0" y="0"/>
                </a:moveTo>
                <a:lnTo>
                  <a:pt x="12687340" y="0"/>
                </a:lnTo>
                <a:lnTo>
                  <a:pt x="12687340" y="3107678"/>
                </a:lnTo>
                <a:lnTo>
                  <a:pt x="0" y="3107678"/>
                </a:lnTo>
                <a:lnTo>
                  <a:pt x="0" y="0"/>
                </a:lnTo>
                <a:close/>
              </a:path>
            </a:pathLst>
          </a:custGeom>
          <a:blipFill>
            <a:blip r:embed="rId6"/>
            <a:stretch>
              <a:fillRect l="-6561" t="0" r="-225564" b="0"/>
            </a:stretch>
          </a:blipFill>
        </p:spPr>
      </p:sp>
      <p:sp>
        <p:nvSpPr>
          <p:cNvPr name="TextBox 8" id="8"/>
          <p:cNvSpPr txBox="true"/>
          <p:nvPr/>
        </p:nvSpPr>
        <p:spPr>
          <a:xfrm rot="0">
            <a:off x="446794" y="616585"/>
            <a:ext cx="16987766" cy="738505"/>
          </a:xfrm>
          <a:prstGeom prst="rect">
            <a:avLst/>
          </a:prstGeom>
        </p:spPr>
        <p:txBody>
          <a:bodyPr anchor="t" rtlCol="false" tIns="0" lIns="0" bIns="0" rIns="0">
            <a:spAutoFit/>
          </a:bodyPr>
          <a:lstStyle/>
          <a:p>
            <a:pPr algn="just">
              <a:lnSpc>
                <a:spcPts val="6019"/>
              </a:lnSpc>
            </a:pPr>
            <a:r>
              <a:rPr lang="en-US" b="true" sz="4299">
                <a:solidFill>
                  <a:srgbClr val="FFFFFF"/>
                </a:solidFill>
                <a:latin typeface="Montserrat Bold"/>
                <a:ea typeface="Montserrat Bold"/>
                <a:cs typeface="Montserrat Bold"/>
                <a:sym typeface="Montserrat Bold"/>
              </a:rPr>
              <a:t>SALES &amp; LOGISTICS OPERATIONS (EUKLID)</a:t>
            </a:r>
          </a:p>
        </p:txBody>
      </p:sp>
      <p:sp>
        <p:nvSpPr>
          <p:cNvPr name="TextBox 9" id="9"/>
          <p:cNvSpPr txBox="true"/>
          <p:nvPr/>
        </p:nvSpPr>
        <p:spPr>
          <a:xfrm rot="0">
            <a:off x="4759717" y="2847880"/>
            <a:ext cx="8768566"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Total quantity sold per product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120935" y="-3731240"/>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416568"/>
            <a:ext cx="6149853" cy="6149853"/>
          </a:xfrm>
          <a:custGeom>
            <a:avLst/>
            <a:gdLst/>
            <a:ahLst/>
            <a:cxnLst/>
            <a:rect r="r" b="b" t="t" l="l"/>
            <a:pathLst>
              <a:path h="6149853" w="6149853">
                <a:moveTo>
                  <a:pt x="0" y="0"/>
                </a:moveTo>
                <a:lnTo>
                  <a:pt x="6149853" y="0"/>
                </a:lnTo>
                <a:lnTo>
                  <a:pt x="6149853" y="6149853"/>
                </a:lnTo>
                <a:lnTo>
                  <a:pt x="0" y="61498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048641" y="4682825"/>
            <a:ext cx="14190717" cy="3238286"/>
          </a:xfrm>
          <a:custGeom>
            <a:avLst/>
            <a:gdLst/>
            <a:ahLst/>
            <a:cxnLst/>
            <a:rect r="r" b="b" t="t" l="l"/>
            <a:pathLst>
              <a:path h="3238286" w="14190717">
                <a:moveTo>
                  <a:pt x="0" y="0"/>
                </a:moveTo>
                <a:lnTo>
                  <a:pt x="14190718" y="0"/>
                </a:lnTo>
                <a:lnTo>
                  <a:pt x="14190718" y="3238286"/>
                </a:lnTo>
                <a:lnTo>
                  <a:pt x="0" y="3238286"/>
                </a:lnTo>
                <a:lnTo>
                  <a:pt x="0" y="0"/>
                </a:lnTo>
                <a:close/>
              </a:path>
            </a:pathLst>
          </a:custGeom>
          <a:blipFill>
            <a:blip r:embed="rId6"/>
            <a:stretch>
              <a:fillRect l="0" t="0" r="-140207" b="0"/>
            </a:stretch>
          </a:blipFill>
        </p:spPr>
      </p:sp>
      <p:sp>
        <p:nvSpPr>
          <p:cNvPr name="TextBox 8" id="8"/>
          <p:cNvSpPr txBox="true"/>
          <p:nvPr/>
        </p:nvSpPr>
        <p:spPr>
          <a:xfrm rot="0">
            <a:off x="446794" y="616585"/>
            <a:ext cx="16987766" cy="738505"/>
          </a:xfrm>
          <a:prstGeom prst="rect">
            <a:avLst/>
          </a:prstGeom>
        </p:spPr>
        <p:txBody>
          <a:bodyPr anchor="t" rtlCol="false" tIns="0" lIns="0" bIns="0" rIns="0">
            <a:spAutoFit/>
          </a:bodyPr>
          <a:lstStyle/>
          <a:p>
            <a:pPr algn="just">
              <a:lnSpc>
                <a:spcPts val="6019"/>
              </a:lnSpc>
            </a:pPr>
            <a:r>
              <a:rPr lang="en-US" b="true" sz="4299">
                <a:solidFill>
                  <a:srgbClr val="FFFFFF"/>
                </a:solidFill>
                <a:latin typeface="Montserrat Bold"/>
                <a:ea typeface="Montserrat Bold"/>
                <a:cs typeface="Montserrat Bold"/>
                <a:sym typeface="Montserrat Bold"/>
              </a:rPr>
              <a:t>SALES &amp; LOGISTICS OPERATIONS (EUKLID)</a:t>
            </a:r>
          </a:p>
        </p:txBody>
      </p:sp>
      <p:sp>
        <p:nvSpPr>
          <p:cNvPr name="TextBox 9" id="9"/>
          <p:cNvSpPr txBox="true"/>
          <p:nvPr/>
        </p:nvSpPr>
        <p:spPr>
          <a:xfrm rot="0">
            <a:off x="7238479" y="3036321"/>
            <a:ext cx="3810819" cy="755015"/>
          </a:xfrm>
          <a:prstGeom prst="rect">
            <a:avLst/>
          </a:prstGeom>
        </p:spPr>
        <p:txBody>
          <a:bodyPr anchor="t" rtlCol="false" tIns="0" lIns="0" bIns="0" rIns="0">
            <a:spAutoFit/>
          </a:bodyPr>
          <a:lstStyle/>
          <a:p>
            <a:pPr algn="just" marL="0" indent="0" lvl="0">
              <a:lnSpc>
                <a:spcPts val="6159"/>
              </a:lnSpc>
              <a:spcBef>
                <a:spcPct val="0"/>
              </a:spcBef>
            </a:pPr>
            <a:r>
              <a:rPr lang="en-US" b="true" sz="4399" strike="noStrike" u="none">
                <a:solidFill>
                  <a:srgbClr val="FFFFFF"/>
                </a:solidFill>
                <a:latin typeface="Canva Sans Bold"/>
                <a:ea typeface="Canva Sans Bold"/>
                <a:cs typeface="Canva Sans Bold"/>
                <a:sym typeface="Canva Sans Bold"/>
              </a:rPr>
              <a:t>Query Results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120935" y="-3731240"/>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357045"/>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506388" y="4163831"/>
            <a:ext cx="10868578" cy="4185214"/>
          </a:xfrm>
          <a:custGeom>
            <a:avLst/>
            <a:gdLst/>
            <a:ahLst/>
            <a:cxnLst/>
            <a:rect r="r" b="b" t="t" l="l"/>
            <a:pathLst>
              <a:path h="4185214" w="10868578">
                <a:moveTo>
                  <a:pt x="0" y="0"/>
                </a:moveTo>
                <a:lnTo>
                  <a:pt x="10868578" y="0"/>
                </a:lnTo>
                <a:lnTo>
                  <a:pt x="10868578" y="4185214"/>
                </a:lnTo>
                <a:lnTo>
                  <a:pt x="0" y="4185214"/>
                </a:lnTo>
                <a:lnTo>
                  <a:pt x="0" y="0"/>
                </a:lnTo>
                <a:close/>
              </a:path>
            </a:pathLst>
          </a:custGeom>
          <a:blipFill>
            <a:blip r:embed="rId6"/>
            <a:stretch>
              <a:fillRect l="0" t="0" r="0" b="0"/>
            </a:stretch>
          </a:blipFill>
        </p:spPr>
      </p:sp>
      <p:sp>
        <p:nvSpPr>
          <p:cNvPr name="TextBox 8" id="8"/>
          <p:cNvSpPr txBox="true"/>
          <p:nvPr/>
        </p:nvSpPr>
        <p:spPr>
          <a:xfrm rot="0">
            <a:off x="446794" y="616585"/>
            <a:ext cx="16987766" cy="738505"/>
          </a:xfrm>
          <a:prstGeom prst="rect">
            <a:avLst/>
          </a:prstGeom>
        </p:spPr>
        <p:txBody>
          <a:bodyPr anchor="t" rtlCol="false" tIns="0" lIns="0" bIns="0" rIns="0">
            <a:spAutoFit/>
          </a:bodyPr>
          <a:lstStyle/>
          <a:p>
            <a:pPr algn="just">
              <a:lnSpc>
                <a:spcPts val="6019"/>
              </a:lnSpc>
            </a:pPr>
            <a:r>
              <a:rPr lang="en-US" b="true" sz="4299">
                <a:solidFill>
                  <a:srgbClr val="FFFFFF"/>
                </a:solidFill>
                <a:latin typeface="Montserrat Bold"/>
                <a:ea typeface="Montserrat Bold"/>
                <a:cs typeface="Montserrat Bold"/>
                <a:sym typeface="Montserrat Bold"/>
              </a:rPr>
              <a:t>RETAIL ANALYTICS &amp; HIGH-VALUE CUSTOMERS (ANA)</a:t>
            </a:r>
          </a:p>
        </p:txBody>
      </p:sp>
      <p:sp>
        <p:nvSpPr>
          <p:cNvPr name="TextBox 9" id="9"/>
          <p:cNvSpPr txBox="true"/>
          <p:nvPr/>
        </p:nvSpPr>
        <p:spPr>
          <a:xfrm rot="0">
            <a:off x="3911256" y="2763315"/>
            <a:ext cx="10465488"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Comparing Store Prices for Hardware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120935" y="-3731240"/>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357045"/>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8700" y="4329837"/>
            <a:ext cx="16018920" cy="2212838"/>
          </a:xfrm>
          <a:custGeom>
            <a:avLst/>
            <a:gdLst/>
            <a:ahLst/>
            <a:cxnLst/>
            <a:rect r="r" b="b" t="t" l="l"/>
            <a:pathLst>
              <a:path h="2212838" w="16018920">
                <a:moveTo>
                  <a:pt x="0" y="0"/>
                </a:moveTo>
                <a:lnTo>
                  <a:pt x="16018920" y="0"/>
                </a:lnTo>
                <a:lnTo>
                  <a:pt x="16018920" y="2212838"/>
                </a:lnTo>
                <a:lnTo>
                  <a:pt x="0" y="2212838"/>
                </a:lnTo>
                <a:lnTo>
                  <a:pt x="0" y="0"/>
                </a:lnTo>
                <a:close/>
              </a:path>
            </a:pathLst>
          </a:custGeom>
          <a:blipFill>
            <a:blip r:embed="rId6"/>
            <a:stretch>
              <a:fillRect l="-2346" t="-47608" r="0" b="-7053"/>
            </a:stretch>
          </a:blipFill>
        </p:spPr>
      </p:sp>
      <p:sp>
        <p:nvSpPr>
          <p:cNvPr name="TextBox 8" id="8"/>
          <p:cNvSpPr txBox="true"/>
          <p:nvPr/>
        </p:nvSpPr>
        <p:spPr>
          <a:xfrm rot="0">
            <a:off x="446794" y="616585"/>
            <a:ext cx="16987766" cy="738505"/>
          </a:xfrm>
          <a:prstGeom prst="rect">
            <a:avLst/>
          </a:prstGeom>
        </p:spPr>
        <p:txBody>
          <a:bodyPr anchor="t" rtlCol="false" tIns="0" lIns="0" bIns="0" rIns="0">
            <a:spAutoFit/>
          </a:bodyPr>
          <a:lstStyle/>
          <a:p>
            <a:pPr algn="just">
              <a:lnSpc>
                <a:spcPts val="6019"/>
              </a:lnSpc>
            </a:pPr>
            <a:r>
              <a:rPr lang="en-US" b="true" sz="4299">
                <a:solidFill>
                  <a:srgbClr val="FFFFFF"/>
                </a:solidFill>
                <a:latin typeface="Montserrat Bold"/>
                <a:ea typeface="Montserrat Bold"/>
                <a:cs typeface="Montserrat Bold"/>
                <a:sym typeface="Montserrat Bold"/>
              </a:rPr>
              <a:t>RETAIL ANALYTICS &amp; HIGH-VALUE CUSTOMERS (ANA)</a:t>
            </a:r>
          </a:p>
        </p:txBody>
      </p:sp>
      <p:sp>
        <p:nvSpPr>
          <p:cNvPr name="TextBox 9" id="9"/>
          <p:cNvSpPr txBox="true"/>
          <p:nvPr/>
        </p:nvSpPr>
        <p:spPr>
          <a:xfrm rot="0">
            <a:off x="6793812" y="2822838"/>
            <a:ext cx="3861127"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Query Results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120935" y="-3731240"/>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357045"/>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027869" y="4074879"/>
            <a:ext cx="12232262" cy="5183421"/>
          </a:xfrm>
          <a:custGeom>
            <a:avLst/>
            <a:gdLst/>
            <a:ahLst/>
            <a:cxnLst/>
            <a:rect r="r" b="b" t="t" l="l"/>
            <a:pathLst>
              <a:path h="5183421" w="12232262">
                <a:moveTo>
                  <a:pt x="0" y="0"/>
                </a:moveTo>
                <a:lnTo>
                  <a:pt x="12232262" y="0"/>
                </a:lnTo>
                <a:lnTo>
                  <a:pt x="12232262" y="5183421"/>
                </a:lnTo>
                <a:lnTo>
                  <a:pt x="0" y="5183421"/>
                </a:lnTo>
                <a:lnTo>
                  <a:pt x="0" y="0"/>
                </a:lnTo>
                <a:close/>
              </a:path>
            </a:pathLst>
          </a:custGeom>
          <a:blipFill>
            <a:blip r:embed="rId6"/>
            <a:stretch>
              <a:fillRect l="0" t="0" r="0" b="0"/>
            </a:stretch>
          </a:blipFill>
        </p:spPr>
      </p:sp>
      <p:sp>
        <p:nvSpPr>
          <p:cNvPr name="TextBox 8" id="8"/>
          <p:cNvSpPr txBox="true"/>
          <p:nvPr/>
        </p:nvSpPr>
        <p:spPr>
          <a:xfrm rot="0">
            <a:off x="446794" y="616585"/>
            <a:ext cx="16987766" cy="738505"/>
          </a:xfrm>
          <a:prstGeom prst="rect">
            <a:avLst/>
          </a:prstGeom>
        </p:spPr>
        <p:txBody>
          <a:bodyPr anchor="t" rtlCol="false" tIns="0" lIns="0" bIns="0" rIns="0">
            <a:spAutoFit/>
          </a:bodyPr>
          <a:lstStyle/>
          <a:p>
            <a:pPr algn="just">
              <a:lnSpc>
                <a:spcPts val="6019"/>
              </a:lnSpc>
            </a:pPr>
            <a:r>
              <a:rPr lang="en-US" b="true" sz="4299">
                <a:solidFill>
                  <a:srgbClr val="FFFFFF"/>
                </a:solidFill>
                <a:latin typeface="Montserrat Bold"/>
                <a:ea typeface="Montserrat Bold"/>
                <a:cs typeface="Montserrat Bold"/>
                <a:sym typeface="Montserrat Bold"/>
              </a:rPr>
              <a:t>RETAIL ANALYTICS &amp; HIGH-VALUE CUSTOMERS (ANA)</a:t>
            </a:r>
          </a:p>
        </p:txBody>
      </p:sp>
      <p:sp>
        <p:nvSpPr>
          <p:cNvPr name="TextBox 9" id="9"/>
          <p:cNvSpPr txBox="true"/>
          <p:nvPr/>
        </p:nvSpPr>
        <p:spPr>
          <a:xfrm rot="0">
            <a:off x="3911256" y="2763315"/>
            <a:ext cx="10465488"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Tracking Our Top-Spending Fans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120935" y="-3731240"/>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357045"/>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446794" y="616585"/>
            <a:ext cx="16987766" cy="738505"/>
          </a:xfrm>
          <a:prstGeom prst="rect">
            <a:avLst/>
          </a:prstGeom>
        </p:spPr>
        <p:txBody>
          <a:bodyPr anchor="t" rtlCol="false" tIns="0" lIns="0" bIns="0" rIns="0">
            <a:spAutoFit/>
          </a:bodyPr>
          <a:lstStyle/>
          <a:p>
            <a:pPr algn="just">
              <a:lnSpc>
                <a:spcPts val="6019"/>
              </a:lnSpc>
            </a:pPr>
            <a:r>
              <a:rPr lang="en-US" b="true" sz="4299">
                <a:solidFill>
                  <a:srgbClr val="FFFFFF"/>
                </a:solidFill>
                <a:latin typeface="Montserrat Bold"/>
                <a:ea typeface="Montserrat Bold"/>
                <a:cs typeface="Montserrat Bold"/>
                <a:sym typeface="Montserrat Bold"/>
              </a:rPr>
              <a:t>RETAIL ANALYTICS &amp; HIGH-VALUE CUSTOMERS (ANA)</a:t>
            </a:r>
          </a:p>
        </p:txBody>
      </p:sp>
      <p:sp>
        <p:nvSpPr>
          <p:cNvPr name="TextBox 8" id="8"/>
          <p:cNvSpPr txBox="true"/>
          <p:nvPr/>
        </p:nvSpPr>
        <p:spPr>
          <a:xfrm rot="0">
            <a:off x="6793812" y="2822838"/>
            <a:ext cx="3861127" cy="755015"/>
          </a:xfrm>
          <a:prstGeom prst="rect">
            <a:avLst/>
          </a:prstGeom>
        </p:spPr>
        <p:txBody>
          <a:bodyPr anchor="t" rtlCol="false" tIns="0" lIns="0" bIns="0" rIns="0">
            <a:spAutoFit/>
          </a:bodyPr>
          <a:lstStyle/>
          <a:p>
            <a:pPr algn="just">
              <a:lnSpc>
                <a:spcPts val="6159"/>
              </a:lnSpc>
            </a:pPr>
            <a:r>
              <a:rPr lang="en-US" sz="4399" b="true">
                <a:solidFill>
                  <a:srgbClr val="FFFFFF"/>
                </a:solidFill>
                <a:latin typeface="Canva Sans Bold"/>
                <a:ea typeface="Canva Sans Bold"/>
                <a:cs typeface="Canva Sans Bold"/>
                <a:sym typeface="Canva Sans Bold"/>
              </a:rPr>
              <a:t>Query Results</a:t>
            </a:r>
          </a:p>
        </p:txBody>
      </p:sp>
      <p:sp>
        <p:nvSpPr>
          <p:cNvPr name="Freeform 9" id="9"/>
          <p:cNvSpPr/>
          <p:nvPr/>
        </p:nvSpPr>
        <p:spPr>
          <a:xfrm flipH="false" flipV="false" rot="0">
            <a:off x="1836247" y="4682825"/>
            <a:ext cx="14409162" cy="2228521"/>
          </a:xfrm>
          <a:custGeom>
            <a:avLst/>
            <a:gdLst/>
            <a:ahLst/>
            <a:cxnLst/>
            <a:rect r="r" b="b" t="t" l="l"/>
            <a:pathLst>
              <a:path h="2228521" w="14409162">
                <a:moveTo>
                  <a:pt x="0" y="0"/>
                </a:moveTo>
                <a:lnTo>
                  <a:pt x="14409163" y="0"/>
                </a:lnTo>
                <a:lnTo>
                  <a:pt x="14409163" y="2228522"/>
                </a:lnTo>
                <a:lnTo>
                  <a:pt x="0" y="2228522"/>
                </a:lnTo>
                <a:lnTo>
                  <a:pt x="0" y="0"/>
                </a:lnTo>
                <a:close/>
              </a:path>
            </a:pathLst>
          </a:custGeom>
          <a:blipFill>
            <a:blip r:embed="rId6"/>
            <a:stretch>
              <a:fillRect l="-1656" t="0" r="0" b="-1256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120935" y="-3731240"/>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357045"/>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588708" y="4163831"/>
            <a:ext cx="11061081" cy="4280732"/>
          </a:xfrm>
          <a:custGeom>
            <a:avLst/>
            <a:gdLst/>
            <a:ahLst/>
            <a:cxnLst/>
            <a:rect r="r" b="b" t="t" l="l"/>
            <a:pathLst>
              <a:path h="4280732" w="11061081">
                <a:moveTo>
                  <a:pt x="0" y="0"/>
                </a:moveTo>
                <a:lnTo>
                  <a:pt x="11061081" y="0"/>
                </a:lnTo>
                <a:lnTo>
                  <a:pt x="11061081" y="4280732"/>
                </a:lnTo>
                <a:lnTo>
                  <a:pt x="0" y="4280732"/>
                </a:lnTo>
                <a:lnTo>
                  <a:pt x="0" y="0"/>
                </a:lnTo>
                <a:close/>
              </a:path>
            </a:pathLst>
          </a:custGeom>
          <a:blipFill>
            <a:blip r:embed="rId6"/>
            <a:stretch>
              <a:fillRect l="0" t="0" r="-25965" b="-13126"/>
            </a:stretch>
          </a:blipFill>
        </p:spPr>
      </p:sp>
      <p:sp>
        <p:nvSpPr>
          <p:cNvPr name="TextBox 8" id="8"/>
          <p:cNvSpPr txBox="true"/>
          <p:nvPr/>
        </p:nvSpPr>
        <p:spPr>
          <a:xfrm rot="0">
            <a:off x="446794" y="642620"/>
            <a:ext cx="17344909" cy="712470"/>
          </a:xfrm>
          <a:prstGeom prst="rect">
            <a:avLst/>
          </a:prstGeom>
        </p:spPr>
        <p:txBody>
          <a:bodyPr anchor="t" rtlCol="false" tIns="0" lIns="0" bIns="0" rIns="0">
            <a:spAutoFit/>
          </a:bodyPr>
          <a:lstStyle/>
          <a:p>
            <a:pPr algn="just">
              <a:lnSpc>
                <a:spcPts val="5880"/>
              </a:lnSpc>
            </a:pPr>
            <a:r>
              <a:rPr lang="en-US" b="true" sz="4200">
                <a:solidFill>
                  <a:srgbClr val="FFFFFF"/>
                </a:solidFill>
                <a:latin typeface="Montserrat Bold"/>
                <a:ea typeface="Montserrat Bold"/>
                <a:cs typeface="Montserrat Bold"/>
                <a:sym typeface="Montserrat Bold"/>
              </a:rPr>
              <a:t>ORDER FREQUENCY &amp; PRODUCT OERFORMANCE (JHADAINE)</a:t>
            </a:r>
          </a:p>
        </p:txBody>
      </p:sp>
      <p:sp>
        <p:nvSpPr>
          <p:cNvPr name="TextBox 9" id="9"/>
          <p:cNvSpPr txBox="true"/>
          <p:nvPr/>
        </p:nvSpPr>
        <p:spPr>
          <a:xfrm rot="0">
            <a:off x="2931058" y="2834016"/>
            <a:ext cx="12425883" cy="755015"/>
          </a:xfrm>
          <a:prstGeom prst="rect">
            <a:avLst/>
          </a:prstGeom>
        </p:spPr>
        <p:txBody>
          <a:bodyPr anchor="t" rtlCol="false" tIns="0" lIns="0" bIns="0" rIns="0">
            <a:spAutoFit/>
          </a:bodyPr>
          <a:lstStyle/>
          <a:p>
            <a:pPr algn="ctr">
              <a:lnSpc>
                <a:spcPts val="6160"/>
              </a:lnSpc>
              <a:spcBef>
                <a:spcPct val="0"/>
              </a:spcBef>
            </a:pPr>
            <a:r>
              <a:rPr lang="en-US" b="true" sz="4400">
                <a:solidFill>
                  <a:srgbClr val="FFFFFF"/>
                </a:solidFill>
                <a:latin typeface="Canva Sans Bold"/>
                <a:ea typeface="Canva Sans Bold"/>
                <a:cs typeface="Canva Sans Bold"/>
                <a:sym typeface="Canva Sans Bold"/>
              </a:rPr>
              <a:t>Customers and how many orders they placed</a:t>
            </a:r>
            <a:r>
              <a:rPr lang="en-US" b="true" sz="4400">
                <a:solidFill>
                  <a:srgbClr val="000000"/>
                </a:solidFill>
                <a:latin typeface="Canva Sans Bold"/>
                <a:ea typeface="Canva Sans Bold"/>
                <a:cs typeface="Canva Sans Bold"/>
                <a:sym typeface="Canva Sans Bold"/>
              </a:rPr>
              <a:t>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626365" y="-3212246"/>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357045"/>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975581" y="4520104"/>
            <a:ext cx="14287335" cy="3092761"/>
          </a:xfrm>
          <a:custGeom>
            <a:avLst/>
            <a:gdLst/>
            <a:ahLst/>
            <a:cxnLst/>
            <a:rect r="r" b="b" t="t" l="l"/>
            <a:pathLst>
              <a:path h="3092761" w="14287335">
                <a:moveTo>
                  <a:pt x="0" y="0"/>
                </a:moveTo>
                <a:lnTo>
                  <a:pt x="14287335" y="0"/>
                </a:lnTo>
                <a:lnTo>
                  <a:pt x="14287335" y="3092761"/>
                </a:lnTo>
                <a:lnTo>
                  <a:pt x="0" y="3092761"/>
                </a:lnTo>
                <a:lnTo>
                  <a:pt x="0" y="0"/>
                </a:lnTo>
                <a:close/>
              </a:path>
            </a:pathLst>
          </a:custGeom>
          <a:blipFill>
            <a:blip r:embed="rId6"/>
            <a:stretch>
              <a:fillRect l="-3088" t="0" r="-3474" b="-18726"/>
            </a:stretch>
          </a:blipFill>
        </p:spPr>
      </p:sp>
      <p:sp>
        <p:nvSpPr>
          <p:cNvPr name="TextBox 8" id="8"/>
          <p:cNvSpPr txBox="true"/>
          <p:nvPr/>
        </p:nvSpPr>
        <p:spPr>
          <a:xfrm rot="0">
            <a:off x="446794" y="642620"/>
            <a:ext cx="17344909" cy="712470"/>
          </a:xfrm>
          <a:prstGeom prst="rect">
            <a:avLst/>
          </a:prstGeom>
        </p:spPr>
        <p:txBody>
          <a:bodyPr anchor="t" rtlCol="false" tIns="0" lIns="0" bIns="0" rIns="0">
            <a:spAutoFit/>
          </a:bodyPr>
          <a:lstStyle/>
          <a:p>
            <a:pPr algn="just">
              <a:lnSpc>
                <a:spcPts val="5880"/>
              </a:lnSpc>
            </a:pPr>
            <a:r>
              <a:rPr lang="en-US" b="true" sz="4200">
                <a:solidFill>
                  <a:srgbClr val="FFFFFF"/>
                </a:solidFill>
                <a:latin typeface="Montserrat Bold"/>
                <a:ea typeface="Montserrat Bold"/>
                <a:cs typeface="Montserrat Bold"/>
                <a:sym typeface="Montserrat Bold"/>
              </a:rPr>
              <a:t>ORDER FREQUENCY &amp; PRODUCT OERFORMANCE (JHADAINE)</a:t>
            </a:r>
          </a:p>
        </p:txBody>
      </p:sp>
      <p:sp>
        <p:nvSpPr>
          <p:cNvPr name="TextBox 9" id="9"/>
          <p:cNvSpPr txBox="true"/>
          <p:nvPr/>
        </p:nvSpPr>
        <p:spPr>
          <a:xfrm rot="0">
            <a:off x="7203268" y="2828925"/>
            <a:ext cx="3831961" cy="755015"/>
          </a:xfrm>
          <a:prstGeom prst="rect">
            <a:avLst/>
          </a:prstGeom>
        </p:spPr>
        <p:txBody>
          <a:bodyPr anchor="t" rtlCol="false" tIns="0" lIns="0" bIns="0" rIns="0">
            <a:spAutoFit/>
          </a:bodyPr>
          <a:lstStyle/>
          <a:p>
            <a:pPr algn="ctr">
              <a:lnSpc>
                <a:spcPts val="6160"/>
              </a:lnSpc>
              <a:spcBef>
                <a:spcPct val="0"/>
              </a:spcBef>
            </a:pPr>
            <a:r>
              <a:rPr lang="en-US" b="true" sz="4400">
                <a:solidFill>
                  <a:srgbClr val="FFFFFF"/>
                </a:solidFill>
                <a:latin typeface="Canva Sans Bold"/>
                <a:ea typeface="Canva Sans Bold"/>
                <a:cs typeface="Canva Sans Bold"/>
                <a:sym typeface="Canva Sans Bold"/>
              </a:rPr>
              <a:t>Query Result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626365" y="-3212246"/>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357045"/>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834465" y="3941219"/>
            <a:ext cx="12619070" cy="4917923"/>
          </a:xfrm>
          <a:custGeom>
            <a:avLst/>
            <a:gdLst/>
            <a:ahLst/>
            <a:cxnLst/>
            <a:rect r="r" b="b" t="t" l="l"/>
            <a:pathLst>
              <a:path h="4917923" w="12619070">
                <a:moveTo>
                  <a:pt x="0" y="0"/>
                </a:moveTo>
                <a:lnTo>
                  <a:pt x="12619070" y="0"/>
                </a:lnTo>
                <a:lnTo>
                  <a:pt x="12619070" y="4917922"/>
                </a:lnTo>
                <a:lnTo>
                  <a:pt x="0" y="4917922"/>
                </a:lnTo>
                <a:lnTo>
                  <a:pt x="0" y="0"/>
                </a:lnTo>
                <a:close/>
              </a:path>
            </a:pathLst>
          </a:custGeom>
          <a:blipFill>
            <a:blip r:embed="rId6"/>
            <a:stretch>
              <a:fillRect l="0" t="0" r="-24564" b="-11088"/>
            </a:stretch>
          </a:blipFill>
        </p:spPr>
      </p:sp>
      <p:sp>
        <p:nvSpPr>
          <p:cNvPr name="TextBox 8" id="8"/>
          <p:cNvSpPr txBox="true"/>
          <p:nvPr/>
        </p:nvSpPr>
        <p:spPr>
          <a:xfrm rot="0">
            <a:off x="446794" y="642620"/>
            <a:ext cx="17344909" cy="712470"/>
          </a:xfrm>
          <a:prstGeom prst="rect">
            <a:avLst/>
          </a:prstGeom>
        </p:spPr>
        <p:txBody>
          <a:bodyPr anchor="t" rtlCol="false" tIns="0" lIns="0" bIns="0" rIns="0">
            <a:spAutoFit/>
          </a:bodyPr>
          <a:lstStyle/>
          <a:p>
            <a:pPr algn="just">
              <a:lnSpc>
                <a:spcPts val="5880"/>
              </a:lnSpc>
            </a:pPr>
            <a:r>
              <a:rPr lang="en-US" b="true" sz="4200">
                <a:solidFill>
                  <a:srgbClr val="FFFFFF"/>
                </a:solidFill>
                <a:latin typeface="Montserrat Bold"/>
                <a:ea typeface="Montserrat Bold"/>
                <a:cs typeface="Montserrat Bold"/>
                <a:sym typeface="Montserrat Bold"/>
              </a:rPr>
              <a:t>ORDER FREQUENCY &amp; PRODUCT OERFORMANCE (JHADAINE)</a:t>
            </a:r>
          </a:p>
        </p:txBody>
      </p:sp>
      <p:sp>
        <p:nvSpPr>
          <p:cNvPr name="TextBox 9" id="9"/>
          <p:cNvSpPr txBox="true"/>
          <p:nvPr/>
        </p:nvSpPr>
        <p:spPr>
          <a:xfrm rot="0">
            <a:off x="3334420" y="2649670"/>
            <a:ext cx="11619161" cy="755015"/>
          </a:xfrm>
          <a:prstGeom prst="rect">
            <a:avLst/>
          </a:prstGeom>
        </p:spPr>
        <p:txBody>
          <a:bodyPr anchor="t" rtlCol="false" tIns="0" lIns="0" bIns="0" rIns="0">
            <a:spAutoFit/>
          </a:bodyPr>
          <a:lstStyle/>
          <a:p>
            <a:pPr algn="ctr">
              <a:lnSpc>
                <a:spcPts val="6160"/>
              </a:lnSpc>
              <a:spcBef>
                <a:spcPct val="0"/>
              </a:spcBef>
            </a:pPr>
            <a:r>
              <a:rPr lang="en-US" b="true" sz="4400">
                <a:solidFill>
                  <a:srgbClr val="FFFFFF"/>
                </a:solidFill>
                <a:latin typeface="Canva Sans Bold"/>
                <a:ea typeface="Canva Sans Bold"/>
                <a:cs typeface="Canva Sans Bold"/>
                <a:sym typeface="Canva Sans Bold"/>
              </a:rPr>
              <a:t>Products and which are ordered the most</a:t>
            </a:r>
            <a:r>
              <a:rPr lang="en-US" sz="4400">
                <a:solidFill>
                  <a:srgbClr val="FFFFFF"/>
                </a:solidFill>
                <a:latin typeface="Canva Sans"/>
                <a:ea typeface="Canva Sans"/>
                <a:cs typeface="Canva Sans"/>
                <a:sym typeface="Canva Sans"/>
              </a:rPr>
              <a:t> </a:t>
            </a:r>
            <a:r>
              <a:rPr lang="en-US" sz="4400">
                <a:solidFill>
                  <a:srgbClr val="000000"/>
                </a:solidFill>
                <a:latin typeface="Canva Sans"/>
                <a:ea typeface="Canva Sans"/>
                <a:cs typeface="Canva Sans"/>
                <a:sym typeface="Canva Sans"/>
              </a:rPr>
              <a:t>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013" y="-1129683"/>
            <a:ext cx="18600026" cy="11625016"/>
          </a:xfrm>
          <a:custGeom>
            <a:avLst/>
            <a:gdLst/>
            <a:ahLst/>
            <a:cxnLst/>
            <a:rect r="r" b="b" t="t" l="l"/>
            <a:pathLst>
              <a:path h="11625016" w="18600026">
                <a:moveTo>
                  <a:pt x="0" y="0"/>
                </a:moveTo>
                <a:lnTo>
                  <a:pt x="18600026" y="0"/>
                </a:lnTo>
                <a:lnTo>
                  <a:pt x="18600026" y="11625016"/>
                </a:lnTo>
                <a:lnTo>
                  <a:pt x="0" y="11625016"/>
                </a:lnTo>
                <a:lnTo>
                  <a:pt x="0" y="0"/>
                </a:lnTo>
                <a:close/>
              </a:path>
            </a:pathLst>
          </a:custGeom>
          <a:blipFill>
            <a:blip r:embed="rId3"/>
            <a:stretch>
              <a:fillRect l="0" t="0" r="0" b="0"/>
            </a:stretch>
          </a:blipFill>
        </p:spPr>
      </p:sp>
      <p:grpSp>
        <p:nvGrpSpPr>
          <p:cNvPr name="Group 3" id="3"/>
          <p:cNvGrpSpPr/>
          <p:nvPr/>
        </p:nvGrpSpPr>
        <p:grpSpPr>
          <a:xfrm rot="0">
            <a:off x="-15626365" y="-3212246"/>
            <a:ext cx="33914365" cy="15790143"/>
            <a:chOff x="0" y="0"/>
            <a:chExt cx="8932178" cy="4158721"/>
          </a:xfrm>
        </p:grpSpPr>
        <p:sp>
          <p:nvSpPr>
            <p:cNvPr name="Freeform 4" id="4"/>
            <p:cNvSpPr/>
            <p:nvPr/>
          </p:nvSpPr>
          <p:spPr>
            <a:xfrm flipH="false" flipV="false" rot="0">
              <a:off x="0" y="0"/>
              <a:ext cx="8932179" cy="4158721"/>
            </a:xfrm>
            <a:custGeom>
              <a:avLst/>
              <a:gdLst/>
              <a:ahLst/>
              <a:cxnLst/>
              <a:rect r="r" b="b" t="t" l="l"/>
              <a:pathLst>
                <a:path h="4158721" w="8932179">
                  <a:moveTo>
                    <a:pt x="0" y="0"/>
                  </a:moveTo>
                  <a:lnTo>
                    <a:pt x="8932179" y="0"/>
                  </a:lnTo>
                  <a:lnTo>
                    <a:pt x="8932179" y="4158721"/>
                  </a:lnTo>
                  <a:lnTo>
                    <a:pt x="0" y="4158721"/>
                  </a:lnTo>
                  <a:close/>
                </a:path>
              </a:pathLst>
            </a:custGeom>
            <a:gradFill rotWithShape="true">
              <a:gsLst>
                <a:gs pos="0">
                  <a:srgbClr val="283E51">
                    <a:alpha val="0"/>
                  </a:srgbClr>
                </a:gs>
                <a:gs pos="33333">
                  <a:srgbClr val="283E51">
                    <a:alpha val="36995"/>
                  </a:srgbClr>
                </a:gs>
                <a:gs pos="66667">
                  <a:srgbClr val="283E51">
                    <a:alpha val="49000"/>
                  </a:srgbClr>
                </a:gs>
                <a:gs pos="100000">
                  <a:srgbClr val="122737">
                    <a:alpha val="49000"/>
                  </a:srgbClr>
                </a:gs>
              </a:gsLst>
              <a:lin ang="0"/>
            </a:gradFill>
          </p:spPr>
        </p:sp>
        <p:sp>
          <p:nvSpPr>
            <p:cNvPr name="TextBox 5" id="5"/>
            <p:cNvSpPr txBox="true"/>
            <p:nvPr/>
          </p:nvSpPr>
          <p:spPr>
            <a:xfrm>
              <a:off x="0" y="-38100"/>
              <a:ext cx="8932178" cy="41968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700000">
            <a:off x="1720471" y="-1357045"/>
            <a:ext cx="6149853" cy="6149853"/>
          </a:xfrm>
          <a:custGeom>
            <a:avLst/>
            <a:gdLst/>
            <a:ahLst/>
            <a:cxnLst/>
            <a:rect r="r" b="b" t="t" l="l"/>
            <a:pathLst>
              <a:path h="6149853" w="6149853">
                <a:moveTo>
                  <a:pt x="0" y="0"/>
                </a:moveTo>
                <a:lnTo>
                  <a:pt x="6149853" y="0"/>
                </a:lnTo>
                <a:lnTo>
                  <a:pt x="6149853" y="6149854"/>
                </a:lnTo>
                <a:lnTo>
                  <a:pt x="0" y="6149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683129" y="3962920"/>
            <a:ext cx="12921741" cy="5295380"/>
          </a:xfrm>
          <a:custGeom>
            <a:avLst/>
            <a:gdLst/>
            <a:ahLst/>
            <a:cxnLst/>
            <a:rect r="r" b="b" t="t" l="l"/>
            <a:pathLst>
              <a:path h="5295380" w="12921741">
                <a:moveTo>
                  <a:pt x="0" y="0"/>
                </a:moveTo>
                <a:lnTo>
                  <a:pt x="12921742" y="0"/>
                </a:lnTo>
                <a:lnTo>
                  <a:pt x="12921742" y="5295380"/>
                </a:lnTo>
                <a:lnTo>
                  <a:pt x="0" y="5295380"/>
                </a:lnTo>
                <a:lnTo>
                  <a:pt x="0" y="0"/>
                </a:lnTo>
                <a:close/>
              </a:path>
            </a:pathLst>
          </a:custGeom>
          <a:blipFill>
            <a:blip r:embed="rId6"/>
            <a:stretch>
              <a:fillRect l="0" t="0" r="0" b="0"/>
            </a:stretch>
          </a:blipFill>
        </p:spPr>
      </p:sp>
      <p:sp>
        <p:nvSpPr>
          <p:cNvPr name="TextBox 8" id="8"/>
          <p:cNvSpPr txBox="true"/>
          <p:nvPr/>
        </p:nvSpPr>
        <p:spPr>
          <a:xfrm rot="0">
            <a:off x="446794" y="642620"/>
            <a:ext cx="17344909" cy="712470"/>
          </a:xfrm>
          <a:prstGeom prst="rect">
            <a:avLst/>
          </a:prstGeom>
        </p:spPr>
        <p:txBody>
          <a:bodyPr anchor="t" rtlCol="false" tIns="0" lIns="0" bIns="0" rIns="0">
            <a:spAutoFit/>
          </a:bodyPr>
          <a:lstStyle/>
          <a:p>
            <a:pPr algn="just">
              <a:lnSpc>
                <a:spcPts val="5880"/>
              </a:lnSpc>
            </a:pPr>
            <a:r>
              <a:rPr lang="en-US" b="true" sz="4200">
                <a:solidFill>
                  <a:srgbClr val="FFFFFF"/>
                </a:solidFill>
                <a:latin typeface="Montserrat Bold"/>
                <a:ea typeface="Montserrat Bold"/>
                <a:cs typeface="Montserrat Bold"/>
                <a:sym typeface="Montserrat Bold"/>
              </a:rPr>
              <a:t>ORDER FREQUENCY &amp; PRODUCT OERFORMANCE (JHADAINE)</a:t>
            </a:r>
          </a:p>
        </p:txBody>
      </p:sp>
      <p:sp>
        <p:nvSpPr>
          <p:cNvPr name="TextBox 9" id="9"/>
          <p:cNvSpPr txBox="true"/>
          <p:nvPr/>
        </p:nvSpPr>
        <p:spPr>
          <a:xfrm rot="0">
            <a:off x="7310884" y="2839307"/>
            <a:ext cx="3666232" cy="755015"/>
          </a:xfrm>
          <a:prstGeom prst="rect">
            <a:avLst/>
          </a:prstGeom>
        </p:spPr>
        <p:txBody>
          <a:bodyPr anchor="t" rtlCol="false" tIns="0" lIns="0" bIns="0" rIns="0">
            <a:spAutoFit/>
          </a:bodyPr>
          <a:lstStyle/>
          <a:p>
            <a:pPr algn="ctr">
              <a:lnSpc>
                <a:spcPts val="6160"/>
              </a:lnSpc>
              <a:spcBef>
                <a:spcPct val="0"/>
              </a:spcBef>
            </a:pPr>
            <a:r>
              <a:rPr lang="en-US" b="true" sz="4400">
                <a:solidFill>
                  <a:srgbClr val="FFFFFF"/>
                </a:solidFill>
                <a:latin typeface="Canva Sans Bold"/>
                <a:ea typeface="Canva Sans Bold"/>
                <a:cs typeface="Canva Sans Bold"/>
                <a:sym typeface="Canva Sans Bold"/>
              </a:rPr>
              <a:t>Query Result</a:t>
            </a:r>
            <a:r>
              <a:rPr lang="en-US" sz="4400">
                <a:solidFill>
                  <a:srgbClr val="FFFFFF"/>
                </a:solidFill>
                <a:latin typeface="Canva Sans"/>
                <a:ea typeface="Canva Sans"/>
                <a:cs typeface="Canva Sans"/>
                <a:sym typeface="Canva Sans"/>
              </a:rPr>
              <a:t> </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04056" y="-2590448"/>
            <a:ext cx="19292056" cy="12877448"/>
          </a:xfrm>
          <a:custGeom>
            <a:avLst/>
            <a:gdLst/>
            <a:ahLst/>
            <a:cxnLst/>
            <a:rect r="r" b="b" t="t" l="l"/>
            <a:pathLst>
              <a:path h="12877448" w="19292056">
                <a:moveTo>
                  <a:pt x="0" y="0"/>
                </a:moveTo>
                <a:lnTo>
                  <a:pt x="19292056" y="0"/>
                </a:lnTo>
                <a:lnTo>
                  <a:pt x="19292056" y="12877448"/>
                </a:lnTo>
                <a:lnTo>
                  <a:pt x="0" y="12877448"/>
                </a:lnTo>
                <a:lnTo>
                  <a:pt x="0" y="0"/>
                </a:lnTo>
                <a:close/>
              </a:path>
            </a:pathLst>
          </a:custGeom>
          <a:blipFill>
            <a:blip r:embed="rId2"/>
            <a:stretch>
              <a:fillRect l="0" t="0" r="0" b="0"/>
            </a:stretch>
          </a:blipFill>
        </p:spPr>
      </p:sp>
      <p:grpSp>
        <p:nvGrpSpPr>
          <p:cNvPr name="Group 3" id="3"/>
          <p:cNvGrpSpPr/>
          <p:nvPr/>
        </p:nvGrpSpPr>
        <p:grpSpPr>
          <a:xfrm rot="0">
            <a:off x="721326" y="-486210"/>
            <a:ext cx="17566674" cy="10680117"/>
            <a:chOff x="0" y="0"/>
            <a:chExt cx="4626614" cy="2812870"/>
          </a:xfrm>
        </p:grpSpPr>
        <p:sp>
          <p:nvSpPr>
            <p:cNvPr name="Freeform 4" id="4"/>
            <p:cNvSpPr/>
            <p:nvPr/>
          </p:nvSpPr>
          <p:spPr>
            <a:xfrm flipH="false" flipV="false" rot="0">
              <a:off x="0" y="0"/>
              <a:ext cx="4626614" cy="2812870"/>
            </a:xfrm>
            <a:custGeom>
              <a:avLst/>
              <a:gdLst/>
              <a:ahLst/>
              <a:cxnLst/>
              <a:rect r="r" b="b" t="t" l="l"/>
              <a:pathLst>
                <a:path h="2812870" w="4626614">
                  <a:moveTo>
                    <a:pt x="0" y="0"/>
                  </a:moveTo>
                  <a:lnTo>
                    <a:pt x="4626614" y="0"/>
                  </a:lnTo>
                  <a:lnTo>
                    <a:pt x="4626614" y="2812870"/>
                  </a:lnTo>
                  <a:lnTo>
                    <a:pt x="0" y="2812870"/>
                  </a:lnTo>
                  <a:close/>
                </a:path>
              </a:pathLst>
            </a:custGeom>
            <a:gradFill rotWithShape="true">
              <a:gsLst>
                <a:gs pos="0">
                  <a:srgbClr val="283E51">
                    <a:alpha val="0"/>
                  </a:srgbClr>
                </a:gs>
                <a:gs pos="33333">
                  <a:srgbClr val="283E51">
                    <a:alpha val="43790"/>
                  </a:srgbClr>
                </a:gs>
                <a:gs pos="66667">
                  <a:srgbClr val="283E51">
                    <a:alpha val="58000"/>
                  </a:srgbClr>
                </a:gs>
                <a:gs pos="100000">
                  <a:srgbClr val="122737">
                    <a:alpha val="58000"/>
                  </a:srgbClr>
                </a:gs>
              </a:gsLst>
              <a:lin ang="0"/>
            </a:gradFill>
          </p:spPr>
        </p:sp>
        <p:sp>
          <p:nvSpPr>
            <p:cNvPr name="TextBox 5" id="5"/>
            <p:cNvSpPr txBox="true"/>
            <p:nvPr/>
          </p:nvSpPr>
          <p:spPr>
            <a:xfrm>
              <a:off x="0" y="-38100"/>
              <a:ext cx="4626614" cy="285097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545222" y="1777257"/>
            <a:ext cx="3076591" cy="307659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90E24">
                    <a:alpha val="100000"/>
                  </a:srgbClr>
                </a:gs>
                <a:gs pos="50000">
                  <a:srgbClr val="F35E61">
                    <a:alpha val="100000"/>
                  </a:srgbClr>
                </a:gs>
                <a:gs pos="100000">
                  <a:srgbClr val="FFE385">
                    <a:alpha val="100000"/>
                  </a:srgbClr>
                </a:gs>
              </a:gsLst>
              <a:lin ang="1620000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2083517" y="1680413"/>
            <a:ext cx="4989857" cy="498985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15000">
                  <a:srgbClr val="8114B0">
                    <a:alpha val="100000"/>
                  </a:srgbClr>
                </a:gs>
                <a:gs pos="50000">
                  <a:srgbClr val="FF4291">
                    <a:alpha val="100000"/>
                  </a:srgbClr>
                </a:gs>
                <a:gs pos="85000">
                  <a:srgbClr val="F7FF3C">
                    <a:alpha val="100000"/>
                  </a:srgbClr>
                </a:gs>
              </a:gsLst>
              <a:lin ang="1890000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2212643" y="5867147"/>
            <a:ext cx="2148341" cy="214834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3131">
                    <a:alpha val="65000"/>
                  </a:srgbClr>
                </a:gs>
                <a:gs pos="100000">
                  <a:srgbClr val="FF914D">
                    <a:alpha val="65000"/>
                  </a:srgbClr>
                </a:gs>
              </a:gsLst>
              <a:lin ang="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468808" y="2631592"/>
            <a:ext cx="12892177" cy="2511908"/>
          </a:xfrm>
          <a:prstGeom prst="rect">
            <a:avLst/>
          </a:prstGeom>
        </p:spPr>
        <p:txBody>
          <a:bodyPr anchor="t" rtlCol="false" tIns="0" lIns="0" bIns="0" rIns="0">
            <a:spAutoFit/>
          </a:bodyPr>
          <a:lstStyle/>
          <a:p>
            <a:pPr algn="r">
              <a:lnSpc>
                <a:spcPts val="20476"/>
              </a:lnSpc>
            </a:pPr>
            <a:r>
              <a:rPr lang="en-US" b="true" sz="14626">
                <a:solidFill>
                  <a:srgbClr val="FFFFFF"/>
                </a:solidFill>
                <a:latin typeface="Inter Bold"/>
                <a:ea typeface="Inter Bold"/>
                <a:cs typeface="Inter Bold"/>
                <a:sym typeface="Inter Bold"/>
              </a:rPr>
              <a:t>THANK YOU</a:t>
            </a:r>
          </a:p>
        </p:txBody>
      </p:sp>
      <p:sp>
        <p:nvSpPr>
          <p:cNvPr name="TextBox 16" id="16"/>
          <p:cNvSpPr txBox="true"/>
          <p:nvPr/>
        </p:nvSpPr>
        <p:spPr>
          <a:xfrm rot="0">
            <a:off x="3916751" y="5414628"/>
            <a:ext cx="9450442" cy="1044390"/>
          </a:xfrm>
          <a:prstGeom prst="rect">
            <a:avLst/>
          </a:prstGeom>
        </p:spPr>
        <p:txBody>
          <a:bodyPr anchor="t" rtlCol="false" tIns="0" lIns="0" bIns="0" rIns="0">
            <a:spAutoFit/>
          </a:bodyPr>
          <a:lstStyle/>
          <a:p>
            <a:pPr algn="r">
              <a:lnSpc>
                <a:spcPts val="8585"/>
              </a:lnSpc>
            </a:pPr>
            <a:r>
              <a:rPr lang="en-US" b="true" sz="6132">
                <a:solidFill>
                  <a:srgbClr val="CBE5FA"/>
                </a:solidFill>
                <a:latin typeface="Montserrat Semi-Bold"/>
                <a:ea typeface="Montserrat Semi-Bold"/>
                <a:cs typeface="Montserrat Semi-Bold"/>
                <a:sym typeface="Montserrat Semi-Bold"/>
              </a:rPr>
              <a:t>FOR YOUR ATTENTION</a:t>
            </a:r>
          </a:p>
        </p:txBody>
      </p:sp>
      <p:sp>
        <p:nvSpPr>
          <p:cNvPr name="TextBox 17" id="17"/>
          <p:cNvSpPr txBox="true"/>
          <p:nvPr/>
        </p:nvSpPr>
        <p:spPr>
          <a:xfrm rot="0">
            <a:off x="6324146" y="7067422"/>
            <a:ext cx="4635652" cy="645609"/>
          </a:xfrm>
          <a:prstGeom prst="rect">
            <a:avLst/>
          </a:prstGeom>
        </p:spPr>
        <p:txBody>
          <a:bodyPr anchor="t" rtlCol="false" tIns="0" lIns="0" bIns="0" rIns="0">
            <a:spAutoFit/>
          </a:bodyPr>
          <a:lstStyle/>
          <a:p>
            <a:pPr algn="r">
              <a:lnSpc>
                <a:spcPts val="5365"/>
              </a:lnSpc>
            </a:pPr>
            <a:r>
              <a:rPr lang="en-US" b="true" sz="3832">
                <a:solidFill>
                  <a:srgbClr val="CBE5FA"/>
                </a:solidFill>
                <a:latin typeface="Montserrat Semi-Bold"/>
                <a:ea typeface="Montserrat Semi-Bold"/>
                <a:cs typeface="Montserrat Semi-Bold"/>
                <a:sym typeface="Montserrat Semi-Bold"/>
              </a:rP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DAHF58NUtrg</dc:identifier>
  <dcterms:modified xsi:type="dcterms:W3CDTF">2011-08-01T06:04:30Z</dcterms:modified>
  <cp:revision>1</cp:revision>
  <dc:title>Ana Kuridze, Euklid Pllumbaj, Hannah-Tavier Chevannes, Jovy Theodore, Jhadaine Shepherd</dc:title>
</cp:coreProperties>
</file>